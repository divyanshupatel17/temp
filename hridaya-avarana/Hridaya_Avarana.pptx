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jpe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2.png"/><Relationship Id="rId6" Type="http://schemas.openxmlformats.org/officeDocument/2006/relationships/image" Target="../media/image-5-2.png"/><Relationship Id="rId7" Type="http://schemas.openxmlformats.org/officeDocument/2006/relationships/image" Target="../media/image-5-2.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video" Target="../media/media-5-10.mp4"/><Relationship Id="rId11" Type="http://schemas.microsoft.com/office/2007/relationships/media" Target="../media/media-5-10.mp4"/><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slideLayout" Target="../slideLayouts/slideLayout1.xml"/><Relationship Id="rId1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image" Target="../media/image-7-4.jpeg"/><Relationship Id="rId5" Type="http://schemas.openxmlformats.org/officeDocument/2006/relationships/image" Target="../media/image-7-5.jpe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jpe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image" Target="../media/image-9-3.jpe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jpeg"/><Relationship Id="rId3" Type="http://schemas.openxmlformats.org/officeDocument/2006/relationships/image" Target="../media/image-10-3.jpe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jpe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claude-0/-home-user-temp/7f25fba1-67f1-50aa-a5ca-20648b7772ad/scratchpad/build/img/image2.png">    </p:cNvPr>
          <p:cNvPicPr>
            <a:picLocks noChangeAspect="1"/>
          </p:cNvPicPr>
          <p:nvPr/>
        </p:nvPicPr>
        <p:blipFill>
          <a:blip r:embed="rId1"/>
          <a:stretch>
            <a:fillRect/>
          </a:stretch>
        </p:blipFill>
        <p:spPr>
          <a:xfrm>
            <a:off x="-182880" y="-137160"/>
            <a:ext cx="12573000" cy="1600200"/>
          </a:xfrm>
          <a:prstGeom prst="rect">
            <a:avLst/>
          </a:prstGeom>
        </p:spPr>
      </p:pic>
      <p:sp>
        <p:nvSpPr>
          <p:cNvPr id="3" name="Text 0"/>
          <p:cNvSpPr txBox="1"/>
          <p:nvPr/>
        </p:nvSpPr>
        <p:spPr>
          <a:xfrm>
            <a:off x="731520" y="182880"/>
            <a:ext cx="10725912" cy="1005840"/>
          </a:xfrm>
          <a:prstGeom prst="rect">
            <a:avLst/>
          </a:prstGeom>
          <a:noFill/>
          <a:ln/>
        </p:spPr>
        <p:txBody>
          <a:bodyPr wrap="square" lIns="635" tIns="635" rIns="635" bIns="635" rtlCol="0" anchor="ctr"/>
          <a:lstStyle/>
          <a:p>
            <a:pPr algn="ctr" indent="0" marL="0">
              <a:buNone/>
            </a:pPr>
            <a:r>
              <a:rPr lang="en-US" sz="2600" b="1" dirty="0">
                <a:solidFill>
                  <a:srgbClr val="402839"/>
                </a:solidFill>
                <a:latin typeface="Cambria" pitchFamily="34" charset="0"/>
                <a:ea typeface="Cambria" pitchFamily="34" charset="-122"/>
                <a:cs typeface="Cambria" pitchFamily="34" charset="-120"/>
              </a:rPr>
              <a:t>Government Ayurveda College &amp; Hospital</a:t>
            </a:r>
            <a:endParaRPr lang="en-US" sz="2600" dirty="0"/>
          </a:p>
          <a:p>
            <a:pPr algn="ctr" indent="0" marL="0">
              <a:buNone/>
            </a:pPr>
            <a:r>
              <a:rPr lang="en-US" sz="2600" b="1" dirty="0">
                <a:solidFill>
                  <a:srgbClr val="402839"/>
                </a:solidFill>
                <a:latin typeface="Cambria" pitchFamily="34" charset="0"/>
                <a:ea typeface="Cambria" pitchFamily="34" charset="-122"/>
                <a:cs typeface="Cambria" pitchFamily="34" charset="-120"/>
              </a:rPr>
              <a:t>Bilaspur, Chhattisgarh</a:t>
            </a:r>
            <a:endParaRPr lang="en-US" sz="2600" dirty="0"/>
          </a:p>
        </p:txBody>
      </p:sp>
      <p:sp>
        <p:nvSpPr>
          <p:cNvPr id="4" name="Text 1"/>
          <p:cNvSpPr txBox="1"/>
          <p:nvPr/>
        </p:nvSpPr>
        <p:spPr>
          <a:xfrm>
            <a:off x="548640" y="1600200"/>
            <a:ext cx="2743200" cy="411480"/>
          </a:xfrm>
          <a:prstGeom prst="rect">
            <a:avLst/>
          </a:prstGeom>
          <a:noFill/>
          <a:ln/>
        </p:spPr>
        <p:txBody>
          <a:bodyPr wrap="square" lIns="635" tIns="635" rIns="635" bIns="635" rtlCol="0" anchor="t"/>
          <a:lstStyle/>
          <a:p>
            <a:pPr indent="0" marL="0">
              <a:buNone/>
            </a:pPr>
            <a:r>
              <a:rPr lang="en-US" sz="1800" b="1" dirty="0">
                <a:solidFill>
                  <a:srgbClr val="E02424"/>
                </a:solidFill>
                <a:latin typeface="Cambria" pitchFamily="34" charset="0"/>
                <a:ea typeface="Cambria" pitchFamily="34" charset="-122"/>
                <a:cs typeface="Cambria" pitchFamily="34" charset="-120"/>
              </a:rPr>
              <a:t>Term 1, PA 3</a:t>
            </a:r>
            <a:endParaRPr lang="en-US" sz="1800" dirty="0"/>
          </a:p>
        </p:txBody>
      </p:sp>
      <p:sp>
        <p:nvSpPr>
          <p:cNvPr id="5" name="Text 2"/>
          <p:cNvSpPr txBox="1"/>
          <p:nvPr/>
        </p:nvSpPr>
        <p:spPr>
          <a:xfrm>
            <a:off x="1371600" y="1508760"/>
            <a:ext cx="9445752" cy="1325880"/>
          </a:xfrm>
          <a:prstGeom prst="rect">
            <a:avLst/>
          </a:prstGeom>
          <a:noFill/>
          <a:ln/>
        </p:spPr>
        <p:txBody>
          <a:bodyPr wrap="square" lIns="635" tIns="635" rIns="635" bIns="635" rtlCol="0" anchor="ctr"/>
          <a:lstStyle/>
          <a:p>
            <a:pPr algn="ctr" indent="0" marL="0">
              <a:buNone/>
            </a:pPr>
            <a:r>
              <a:rPr lang="en-US" sz="7200" b="1" dirty="0">
                <a:solidFill>
                  <a:srgbClr val="923C4A"/>
                </a:solidFill>
                <a:latin typeface="Nirmala UI" pitchFamily="34" charset="0"/>
                <a:ea typeface="Nirmala UI" pitchFamily="34" charset="-122"/>
                <a:cs typeface="Nirmala UI" pitchFamily="34" charset="-120"/>
              </a:rPr>
              <a:t>हृदय आवरण</a:t>
            </a:r>
            <a:endParaRPr lang="en-US" sz="7200" dirty="0"/>
          </a:p>
        </p:txBody>
      </p:sp>
      <p:sp>
        <p:nvSpPr>
          <p:cNvPr id="6" name="Text 3"/>
          <p:cNvSpPr txBox="1"/>
          <p:nvPr/>
        </p:nvSpPr>
        <p:spPr>
          <a:xfrm>
            <a:off x="1371600" y="2880360"/>
            <a:ext cx="9445752" cy="457200"/>
          </a:xfrm>
          <a:prstGeom prst="rect">
            <a:avLst/>
          </a:prstGeom>
          <a:noFill/>
          <a:ln/>
        </p:spPr>
        <p:txBody>
          <a:bodyPr wrap="square" lIns="635" tIns="635" rIns="635" bIns="635" rtlCol="0" anchor="ctr"/>
          <a:lstStyle/>
          <a:p>
            <a:pPr algn="ctr" indent="0" marL="0">
              <a:buNone/>
            </a:pPr>
            <a:r>
              <a:rPr lang="en-US" sz="2200" b="1" dirty="0">
                <a:solidFill>
                  <a:srgbClr val="D62E94"/>
                </a:solidFill>
                <a:latin typeface="Cambria" pitchFamily="34" charset="0"/>
                <a:ea typeface="Cambria" pitchFamily="34" charset="-122"/>
                <a:cs typeface="Cambria" pitchFamily="34" charset="-120"/>
              </a:rPr>
              <a:t>Presented by: </a:t>
            </a:r>
            <a:pPr algn="ctr" indent="0" marL="0">
              <a:buNone/>
            </a:pPr>
            <a:r>
              <a:rPr lang="en-US" sz="2200" dirty="0">
                <a:solidFill>
                  <a:srgbClr val="D62E94"/>
                </a:solidFill>
                <a:latin typeface="Cambria" pitchFamily="34" charset="0"/>
                <a:ea typeface="Cambria" pitchFamily="34" charset="-122"/>
                <a:cs typeface="Cambria" pitchFamily="34" charset="-120"/>
              </a:rPr>
              <a:t>Harsha Choudhary &amp; Heena Chandrakar</a:t>
            </a:r>
            <a:endParaRPr lang="en-US" sz="2200" dirty="0"/>
          </a:p>
        </p:txBody>
      </p:sp>
      <p:sp>
        <p:nvSpPr>
          <p:cNvPr id="7" name="Text 4"/>
          <p:cNvSpPr txBox="1"/>
          <p:nvPr/>
        </p:nvSpPr>
        <p:spPr>
          <a:xfrm>
            <a:off x="731520" y="3657600"/>
            <a:ext cx="7680960" cy="2834640"/>
          </a:xfrm>
          <a:prstGeom prst="rect">
            <a:avLst/>
          </a:prstGeom>
          <a:noFill/>
          <a:ln/>
        </p:spPr>
        <p:txBody>
          <a:bodyPr wrap="square" lIns="635" tIns="635" rIns="635" bIns="635" rtlCol="0" anchor="t"/>
          <a:lstStyle/>
          <a:p>
            <a:pPr indent="0" marL="0">
              <a:spcAft>
                <a:spcPts val="600"/>
              </a:spcAft>
              <a:buNone/>
            </a:pPr>
            <a:r>
              <a:rPr lang="en-US" sz="2400" b="1" dirty="0">
                <a:solidFill>
                  <a:srgbClr val="1F2A6B"/>
                </a:solidFill>
                <a:latin typeface="Cambria" pitchFamily="34" charset="0"/>
                <a:ea typeface="Cambria" pitchFamily="34" charset="-122"/>
                <a:cs typeface="Cambria" pitchFamily="34" charset="-120"/>
              </a:rPr>
              <a:t>Guided by:</a:t>
            </a:r>
            <a:endParaRPr lang="en-US" sz="2100" dirty="0"/>
          </a:p>
          <a:p>
            <a:pPr indent="0" marL="0">
              <a:buNone/>
            </a:pPr>
            <a:r>
              <a:rPr lang="en-US" sz="2100" b="1" dirty="0">
                <a:solidFill>
                  <a:srgbClr val="2B3A8C"/>
                </a:solidFill>
                <a:latin typeface="Cambria" pitchFamily="34" charset="0"/>
                <a:ea typeface="Cambria" pitchFamily="34" charset="-122"/>
                <a:cs typeface="Cambria" pitchFamily="34" charset="-120"/>
              </a:rPr>
              <a:t>Dr. Sachin Baghel Sir</a:t>
            </a:r>
            <a:endParaRPr lang="en-US" sz="2100" dirty="0"/>
          </a:p>
          <a:p>
            <a:pPr indent="0" marL="0">
              <a:spcAft>
                <a:spcPts val="1200"/>
              </a:spcAft>
              <a:buNone/>
            </a:pPr>
            <a:r>
              <a:rPr lang="en-US" sz="1700" dirty="0">
                <a:solidFill>
                  <a:srgbClr val="2B3A8C"/>
                </a:solidFill>
                <a:latin typeface="Cambria" pitchFamily="34" charset="0"/>
                <a:ea typeface="Cambria" pitchFamily="34" charset="-122"/>
                <a:cs typeface="Cambria" pitchFamily="34" charset="-120"/>
              </a:rPr>
              <a:t>HOD &amp; Reader, MD (Agad Tantra evam Vidhi Ayurveda)</a:t>
            </a:r>
            <a:endParaRPr lang="en-US" sz="2100" dirty="0"/>
          </a:p>
          <a:p>
            <a:pPr indent="0" marL="0">
              <a:buNone/>
            </a:pPr>
            <a:r>
              <a:rPr lang="en-US" sz="2100" b="1" dirty="0">
                <a:solidFill>
                  <a:srgbClr val="2B3A8C"/>
                </a:solidFill>
                <a:latin typeface="Cambria" pitchFamily="34" charset="0"/>
                <a:ea typeface="Cambria" pitchFamily="34" charset="-122"/>
                <a:cs typeface="Cambria" pitchFamily="34" charset="-120"/>
              </a:rPr>
              <a:t>Dr. Varun Kumar Sir</a:t>
            </a:r>
            <a:endParaRPr lang="en-US" sz="2100" dirty="0"/>
          </a:p>
          <a:p>
            <a:pPr indent="0" marL="0">
              <a:buNone/>
            </a:pPr>
            <a:r>
              <a:rPr lang="en-US" sz="1700" dirty="0">
                <a:solidFill>
                  <a:srgbClr val="2B3A8C"/>
                </a:solidFill>
                <a:latin typeface="Cambria" pitchFamily="34" charset="0"/>
                <a:ea typeface="Cambria" pitchFamily="34" charset="-122"/>
                <a:cs typeface="Cambria" pitchFamily="34" charset="-120"/>
              </a:rPr>
              <a:t>Lecturer, MD (Agad Tantra evam Vidhi Ayurveda)</a:t>
            </a:r>
            <a:endParaRPr lang="en-US" sz="2100" dirty="0"/>
          </a:p>
        </p:txBody>
      </p:sp>
      <p:pic>
        <p:nvPicPr>
          <p:cNvPr id="8" name="Image 1" descr="Illustrated heart">    </p:cNvPr>
          <p:cNvPicPr>
            <a:picLocks noChangeAspect="1"/>
          </p:cNvPicPr>
          <p:nvPr/>
        </p:nvPicPr>
        <p:blipFill>
          <a:blip r:embed="rId2"/>
          <a:stretch>
            <a:fillRect/>
          </a:stretch>
        </p:blipFill>
        <p:spPr>
          <a:xfrm>
            <a:off x="9087759" y="3520440"/>
            <a:ext cx="2307043" cy="30632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3D4331"/>
        </a:solidFill>
      </p:bgPr>
    </p:bg>
    <p:spTree>
      <p:nvGrpSpPr>
        <p:cNvPr id="1" name=""/>
        <p:cNvGrpSpPr/>
        <p:nvPr/>
      </p:nvGrpSpPr>
      <p:grpSpPr>
        <a:xfrm>
          <a:off x="0" y="0"/>
          <a:ext cx="0" cy="0"/>
          <a:chOff x="0" y="0"/>
          <a:chExt cx="0" cy="0"/>
        </a:xfrm>
      </p:grpSpPr>
      <p:pic>
        <p:nvPicPr>
          <p:cNvPr id="2" name="Image 0" descr="/tmp/claude-0/-home-user-temp/7f25fba1-67f1-50aa-a5ca-20648b7772ad/scratchpad/build/img/image3.png">    </p:cNvPr>
          <p:cNvPicPr>
            <a:picLocks noChangeAspect="1"/>
          </p:cNvPicPr>
          <p:nvPr/>
        </p:nvPicPr>
        <p:blipFill>
          <a:blip r:embed="rId1"/>
          <a:stretch>
            <a:fillRect/>
          </a:stretch>
        </p:blipFill>
        <p:spPr>
          <a:xfrm>
            <a:off x="411480" y="365760"/>
            <a:ext cx="2743200" cy="731520"/>
          </a:xfrm>
          <a:prstGeom prst="rect">
            <a:avLst/>
          </a:prstGeom>
        </p:spPr>
      </p:pic>
      <p:sp>
        <p:nvSpPr>
          <p:cNvPr id="3" name="Text 0"/>
          <p:cNvSpPr txBox="1"/>
          <p:nvPr/>
        </p:nvSpPr>
        <p:spPr>
          <a:xfrm>
            <a:off x="548640" y="384048"/>
            <a:ext cx="2560320" cy="658368"/>
          </a:xfrm>
          <a:prstGeom prst="rect">
            <a:avLst/>
          </a:prstGeom>
          <a:noFill/>
          <a:ln/>
        </p:spPr>
        <p:txBody>
          <a:bodyPr wrap="square" lIns="635" tIns="635" rIns="635" bIns="635" rtlCol="0" anchor="ctr"/>
          <a:lstStyle/>
          <a:p>
            <a:pPr indent="0" marL="0">
              <a:buNone/>
            </a:pPr>
            <a:r>
              <a:rPr lang="en-US" sz="2400" b="1" dirty="0">
                <a:solidFill>
                  <a:srgbClr val="2E3A12"/>
                </a:solidFill>
                <a:latin typeface="Nirmala UI" pitchFamily="34" charset="0"/>
                <a:ea typeface="Nirmala UI" pitchFamily="34" charset="-122"/>
                <a:cs typeface="Nirmala UI" pitchFamily="34" charset="-120"/>
              </a:rPr>
              <a:t>हृदयावरणम्</a:t>
            </a:r>
            <a:endParaRPr lang="en-US" sz="2400" dirty="0"/>
          </a:p>
        </p:txBody>
      </p:sp>
      <p:sp>
        <p:nvSpPr>
          <p:cNvPr id="4" name="Text 1"/>
          <p:cNvSpPr txBox="1"/>
          <p:nvPr/>
        </p:nvSpPr>
        <p:spPr>
          <a:xfrm>
            <a:off x="548640" y="1234440"/>
            <a:ext cx="8412480" cy="640080"/>
          </a:xfrm>
          <a:prstGeom prst="rect">
            <a:avLst/>
          </a:prstGeom>
          <a:noFill/>
          <a:ln/>
        </p:spPr>
        <p:txBody>
          <a:bodyPr wrap="square" lIns="635" tIns="635" rIns="635" bIns="635"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An Ayurvedic Concept of Hridaya Protection</a:t>
            </a:r>
            <a:endParaRPr lang="en-US" sz="3200" dirty="0"/>
          </a:p>
        </p:txBody>
      </p:sp>
      <p:sp>
        <p:nvSpPr>
          <p:cNvPr id="5" name="Text 2"/>
          <p:cNvSpPr txBox="1"/>
          <p:nvPr/>
        </p:nvSpPr>
        <p:spPr>
          <a:xfrm>
            <a:off x="548640" y="1874520"/>
            <a:ext cx="8412480" cy="457200"/>
          </a:xfrm>
          <a:prstGeom prst="rect">
            <a:avLst/>
          </a:prstGeom>
          <a:noFill/>
          <a:ln/>
        </p:spPr>
        <p:txBody>
          <a:bodyPr wrap="square" lIns="635" tIns="635" rIns="635" bIns="635" rtlCol="0" anchor="ctr"/>
          <a:lstStyle/>
          <a:p>
            <a:pPr indent="0" marL="0">
              <a:buNone/>
            </a:pPr>
            <a:r>
              <a:rPr lang="en-US" sz="2000" i="1" dirty="0">
                <a:solidFill>
                  <a:srgbClr val="FCF6DB"/>
                </a:solidFill>
                <a:latin typeface="Cambria" pitchFamily="34" charset="0"/>
                <a:ea typeface="Cambria" pitchFamily="34" charset="-122"/>
                <a:cs typeface="Cambria" pitchFamily="34" charset="-120"/>
              </a:rPr>
              <a:t>Hridaya – a vital organ &amp; an important Marma</a:t>
            </a:r>
            <a:endParaRPr lang="en-US" sz="2000" dirty="0"/>
          </a:p>
        </p:txBody>
      </p:sp>
      <p:sp>
        <p:nvSpPr>
          <p:cNvPr id="6" name="Text 3"/>
          <p:cNvSpPr txBox="1"/>
          <p:nvPr/>
        </p:nvSpPr>
        <p:spPr>
          <a:xfrm>
            <a:off x="548640" y="2606040"/>
            <a:ext cx="5486400" cy="457200"/>
          </a:xfrm>
          <a:prstGeom prst="rect">
            <a:avLst/>
          </a:prstGeom>
          <a:noFill/>
          <a:ln/>
        </p:spPr>
        <p:txBody>
          <a:bodyPr wrap="square" lIns="635" tIns="635" rIns="635" bIns="635" rtlCol="0" anchor="ctr"/>
          <a:lstStyle/>
          <a:p>
            <a:pPr indent="0" marL="0">
              <a:buNone/>
            </a:pPr>
            <a:r>
              <a:rPr lang="en-US" sz="2200" b="1" dirty="0">
                <a:solidFill>
                  <a:srgbClr val="F7BB26"/>
                </a:solidFill>
                <a:latin typeface="Cambria" pitchFamily="34" charset="0"/>
                <a:ea typeface="Cambria" pitchFamily="34" charset="-122"/>
                <a:cs typeface="Cambria" pitchFamily="34" charset="-120"/>
              </a:rPr>
              <a:t>Table of Contents</a:t>
            </a:r>
            <a:endParaRPr lang="en-US" sz="2200" dirty="0"/>
          </a:p>
        </p:txBody>
      </p:sp>
      <p:sp>
        <p:nvSpPr>
          <p:cNvPr id="7" name="Text 4"/>
          <p:cNvSpPr txBox="1"/>
          <p:nvPr/>
        </p:nvSpPr>
        <p:spPr>
          <a:xfrm>
            <a:off x="640080" y="3154680"/>
            <a:ext cx="7863840" cy="3291840"/>
          </a:xfrm>
          <a:prstGeom prst="rect">
            <a:avLst/>
          </a:prstGeom>
          <a:noFill/>
          <a:ln/>
        </p:spPr>
        <p:txBody>
          <a:bodyPr wrap="square" lIns="635" tIns="635" rIns="635" bIns="635" rtlCol="0" anchor="t"/>
          <a:lstStyle/>
          <a:p>
            <a:pPr marL="342900" indent="-342900">
              <a:spcAft>
                <a:spcPts val="600"/>
              </a:spcAft>
              <a:buSzPct val="100000"/>
              <a:buFont typeface="+mj-lt"/>
              <a:buAutoNum type="arabicPeriod" startAt="1"/>
            </a:pPr>
            <a:r>
              <a:rPr lang="en-US" sz="1900" dirty="0">
                <a:solidFill>
                  <a:srgbClr val="FFFFFF"/>
                </a:solidFill>
                <a:latin typeface="Cambria" pitchFamily="34" charset="0"/>
                <a:ea typeface="Cambria" pitchFamily="34" charset="-122"/>
                <a:cs typeface="Cambria" pitchFamily="34" charset="-120"/>
              </a:rPr>
              <a:t>Visha Chikitsa – 24 Upakrama</a:t>
            </a:r>
            <a:endParaRPr lang="en-US" sz="1900" dirty="0"/>
          </a:p>
          <a:p>
            <a:pPr marL="342900" indent="-342900">
              <a:spcAft>
                <a:spcPts val="600"/>
              </a:spcAft>
              <a:buSzPct val="100000"/>
              <a:buFont typeface="+mj-lt"/>
              <a:buAutoNum type="arabicPeriod" startAt="1"/>
            </a:pPr>
            <a:r>
              <a:rPr lang="en-US" sz="1900" dirty="0">
                <a:solidFill>
                  <a:srgbClr val="FFFFFF"/>
                </a:solidFill>
                <a:latin typeface="Cambria" pitchFamily="34" charset="0"/>
                <a:ea typeface="Cambria" pitchFamily="34" charset="-122"/>
                <a:cs typeface="Cambria" pitchFamily="34" charset="-120"/>
              </a:rPr>
              <a:t>According to Acharya Charak</a:t>
            </a:r>
            <a:endParaRPr lang="en-US" sz="1900" dirty="0"/>
          </a:p>
          <a:p>
            <a:pPr marL="342900" indent="-342900">
              <a:spcAft>
                <a:spcPts val="600"/>
              </a:spcAft>
              <a:buSzPct val="100000"/>
              <a:buFont typeface="+mj-lt"/>
              <a:buAutoNum type="arabicPeriod" startAt="1"/>
            </a:pPr>
            <a:r>
              <a:rPr lang="en-US" sz="1900" dirty="0">
                <a:solidFill>
                  <a:srgbClr val="FFFFFF"/>
                </a:solidFill>
                <a:latin typeface="Cambria" pitchFamily="34" charset="0"/>
                <a:ea typeface="Cambria" pitchFamily="34" charset="-122"/>
                <a:cs typeface="Cambria" pitchFamily="34" charset="-120"/>
              </a:rPr>
              <a:t>According to Acharya Vagbhat</a:t>
            </a:r>
            <a:endParaRPr lang="en-US" sz="1900" dirty="0"/>
          </a:p>
          <a:p>
            <a:pPr marL="342900" indent="-342900">
              <a:spcAft>
                <a:spcPts val="600"/>
              </a:spcAft>
              <a:buSzPct val="100000"/>
              <a:buFont typeface="+mj-lt"/>
              <a:buAutoNum type="arabicPeriod" startAt="1"/>
            </a:pPr>
            <a:r>
              <a:rPr lang="en-US" sz="1900" dirty="0">
                <a:solidFill>
                  <a:srgbClr val="FFFFFF"/>
                </a:solidFill>
                <a:latin typeface="Cambria" pitchFamily="34" charset="0"/>
                <a:ea typeface="Cambria" pitchFamily="34" charset="-122"/>
                <a:cs typeface="Cambria" pitchFamily="34" charset="-120"/>
              </a:rPr>
              <a:t>According to Acharya Sushruta</a:t>
            </a:r>
            <a:endParaRPr lang="en-US" sz="1900" dirty="0"/>
          </a:p>
          <a:p>
            <a:pPr marL="342900" indent="-342900">
              <a:spcAft>
                <a:spcPts val="600"/>
              </a:spcAft>
              <a:buSzPct val="100000"/>
              <a:buFont typeface="+mj-lt"/>
              <a:buAutoNum type="arabicPeriod" startAt="1"/>
            </a:pPr>
            <a:r>
              <a:rPr lang="en-US" sz="1900" dirty="0">
                <a:solidFill>
                  <a:srgbClr val="FFFFFF"/>
                </a:solidFill>
                <a:latin typeface="Cambria" pitchFamily="34" charset="0"/>
                <a:ea typeface="Cambria" pitchFamily="34" charset="-122"/>
                <a:cs typeface="Cambria" pitchFamily="34" charset="-120"/>
              </a:rPr>
              <a:t>Visha ke Vega</a:t>
            </a:r>
            <a:endParaRPr lang="en-US" sz="1900" dirty="0"/>
          </a:p>
          <a:p>
            <a:pPr marL="342900" indent="-342900">
              <a:spcAft>
                <a:spcPts val="600"/>
              </a:spcAft>
              <a:buSzPct val="100000"/>
              <a:buFont typeface="+mj-lt"/>
              <a:buAutoNum type="arabicPeriod" startAt="1"/>
            </a:pPr>
            <a:r>
              <a:rPr lang="en-US" sz="1900" dirty="0">
                <a:solidFill>
                  <a:srgbClr val="FFFFFF"/>
                </a:solidFill>
                <a:latin typeface="Cambria" pitchFamily="34" charset="0"/>
                <a:ea typeface="Cambria" pitchFamily="34" charset="-122"/>
                <a:cs typeface="Cambria" pitchFamily="34" charset="-120"/>
              </a:rPr>
              <a:t>Ayurvedic Visha Dravya</a:t>
            </a:r>
            <a:endParaRPr lang="en-US" sz="1900" dirty="0"/>
          </a:p>
          <a:p>
            <a:pPr marL="342900" indent="-342900">
              <a:spcAft>
                <a:spcPts val="600"/>
              </a:spcAft>
              <a:buSzPct val="100000"/>
              <a:buFont typeface="+mj-lt"/>
              <a:buAutoNum type="arabicPeriod" startAt="1"/>
            </a:pPr>
            <a:r>
              <a:rPr lang="en-US" sz="1900" dirty="0">
                <a:solidFill>
                  <a:srgbClr val="FFFFFF"/>
                </a:solidFill>
                <a:latin typeface="Cambria" pitchFamily="34" charset="0"/>
                <a:ea typeface="Cambria" pitchFamily="34" charset="-122"/>
                <a:cs typeface="Cambria" pitchFamily="34" charset="-120"/>
              </a:rPr>
              <a:t>Q &amp; A</a:t>
            </a:r>
            <a:endParaRPr lang="en-US" sz="1900" dirty="0"/>
          </a:p>
        </p:txBody>
      </p:sp>
      <p:pic>
        <p:nvPicPr>
          <p:cNvPr id="8" name="Image 1" descr="Glowing heart in human torso">    </p:cNvPr>
          <p:cNvPicPr>
            <a:picLocks noChangeAspect="1"/>
          </p:cNvPicPr>
          <p:nvPr/>
        </p:nvPicPr>
        <p:blipFill>
          <a:blip r:embed="rId2"/>
          <a:srcRect l="0" r="0" t="0" b="0"/>
          <a:stretch/>
        </p:blipFill>
        <p:spPr>
          <a:xfrm>
            <a:off x="9052560" y="365760"/>
            <a:ext cx="2697480" cy="6126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E4007"/>
        </a:solidFill>
      </p:bgPr>
    </p:bg>
    <p:spTree>
      <p:nvGrpSpPr>
        <p:cNvPr id="1" name=""/>
        <p:cNvGrpSpPr/>
        <p:nvPr/>
      </p:nvGrpSpPr>
      <p:grpSpPr>
        <a:xfrm>
          <a:off x="0" y="0"/>
          <a:ext cx="0" cy="0"/>
          <a:chOff x="0" y="0"/>
          <a:chExt cx="0" cy="0"/>
        </a:xfrm>
      </p:grpSpPr>
      <p:sp>
        <p:nvSpPr>
          <p:cNvPr id="2" name="Text 0"/>
          <p:cNvSpPr txBox="1"/>
          <p:nvPr/>
        </p:nvSpPr>
        <p:spPr>
          <a:xfrm>
            <a:off x="457200" y="182880"/>
            <a:ext cx="11274552" cy="731520"/>
          </a:xfrm>
          <a:prstGeom prst="rect">
            <a:avLst/>
          </a:prstGeom>
          <a:noFill/>
          <a:ln/>
        </p:spPr>
        <p:txBody>
          <a:bodyPr wrap="square" lIns="635" tIns="635" rIns="635" bIns="635" rtlCol="0" anchor="ctr"/>
          <a:lstStyle/>
          <a:p>
            <a:pPr algn="ctr" indent="0" marL="0">
              <a:buNone/>
            </a:pPr>
            <a:r>
              <a:rPr lang="en-US" sz="3800" b="1" dirty="0">
                <a:solidFill>
                  <a:srgbClr val="FFFFFF"/>
                </a:solidFill>
                <a:latin typeface="Nirmala UI" pitchFamily="34" charset="0"/>
                <a:ea typeface="Nirmala UI" pitchFamily="34" charset="-122"/>
                <a:cs typeface="Nirmala UI" pitchFamily="34" charset="-120"/>
              </a:rPr>
              <a:t>विष चिकित्सा</a:t>
            </a:r>
            <a:endParaRPr lang="en-US" sz="3800" dirty="0"/>
          </a:p>
        </p:txBody>
      </p:sp>
      <p:sp>
        <p:nvSpPr>
          <p:cNvPr id="3" name="Text 1"/>
          <p:cNvSpPr txBox="1"/>
          <p:nvPr/>
        </p:nvSpPr>
        <p:spPr>
          <a:xfrm>
            <a:off x="457200" y="868680"/>
            <a:ext cx="11274552" cy="457200"/>
          </a:xfrm>
          <a:prstGeom prst="rect">
            <a:avLst/>
          </a:prstGeom>
          <a:noFill/>
          <a:ln/>
        </p:spPr>
        <p:txBody>
          <a:bodyPr wrap="square" lIns="635" tIns="635" rIns="635" bIns="635" rtlCol="0" anchor="ctr"/>
          <a:lstStyle/>
          <a:p>
            <a:pPr algn="ctr" indent="0" marL="0">
              <a:buNone/>
            </a:pPr>
            <a:r>
              <a:rPr lang="en-US" sz="2200" i="1" dirty="0">
                <a:solidFill>
                  <a:srgbClr val="FFDE59"/>
                </a:solidFill>
                <a:latin typeface="Cambria" pitchFamily="34" charset="0"/>
                <a:ea typeface="Cambria" pitchFamily="34" charset="-122"/>
                <a:cs typeface="Cambria" pitchFamily="34" charset="-120"/>
              </a:rPr>
              <a:t>Chaturvimshati Upakrama (24 Upakrama)</a:t>
            </a:r>
            <a:endParaRPr lang="en-US" sz="2200" dirty="0"/>
          </a:p>
        </p:txBody>
      </p:sp>
      <p:pic>
        <p:nvPicPr>
          <p:cNvPr id="4" name="Image 0" descr="Scorpion">    </p:cNvPr>
          <p:cNvPicPr>
            <a:picLocks noChangeAspect="1"/>
          </p:cNvPicPr>
          <p:nvPr/>
        </p:nvPicPr>
        <p:blipFill>
          <a:blip r:embed="rId1"/>
          <a:stretch>
            <a:fillRect/>
          </a:stretch>
        </p:blipFill>
        <p:spPr>
          <a:xfrm>
            <a:off x="10241280" y="156279"/>
            <a:ext cx="1645920" cy="1241921"/>
          </a:xfrm>
          <a:prstGeom prst="rect">
            <a:avLst/>
          </a:prstGeom>
        </p:spPr>
      </p:pic>
      <p:sp>
        <p:nvSpPr>
          <p:cNvPr id="5" name="Shape 2"/>
          <p:cNvSpPr/>
          <p:nvPr/>
        </p:nvSpPr>
        <p:spPr>
          <a:xfrm>
            <a:off x="731520" y="1508760"/>
            <a:ext cx="10725912" cy="4983480"/>
          </a:xfrm>
          <a:prstGeom prst="roundRect">
            <a:avLst>
              <a:gd name="adj" fmla="val 2202"/>
            </a:avLst>
          </a:prstGeom>
          <a:solidFill>
            <a:srgbClr val="FCF6DB"/>
          </a:solidFill>
          <a:ln w="12700">
            <a:solidFill>
              <a:srgbClr val="E6D9A8"/>
            </a:solidFill>
            <a:prstDash val="solid"/>
          </a:ln>
        </p:spPr>
      </p:sp>
      <p:sp>
        <p:nvSpPr>
          <p:cNvPr id="6" name="Text 3"/>
          <p:cNvSpPr txBox="1"/>
          <p:nvPr/>
        </p:nvSpPr>
        <p:spPr>
          <a:xfrm>
            <a:off x="2377440" y="1737360"/>
            <a:ext cx="7406640" cy="4572000"/>
          </a:xfrm>
          <a:prstGeom prst="rect">
            <a:avLst/>
          </a:prstGeom>
          <a:noFill/>
          <a:ln/>
        </p:spPr>
        <p:txBody>
          <a:bodyPr wrap="square" lIns="635" tIns="635" rIns="635" bIns="635" rtlCol="0" anchor="ctr"/>
          <a:lstStyle/>
          <a:p>
            <a:pPr algn="ctr" indent="0" marL="0">
              <a:lnSpc>
                <a:spcPct val="115000"/>
              </a:lnSpc>
              <a:buNone/>
            </a:pPr>
            <a:r>
              <a:rPr lang="en-US" sz="2400" dirty="0">
                <a:solidFill>
                  <a:srgbClr val="222222"/>
                </a:solidFill>
                <a:latin typeface="Nirmala UI" pitchFamily="34" charset="0"/>
                <a:ea typeface="Nirmala UI" pitchFamily="34" charset="-122"/>
                <a:cs typeface="Nirmala UI" pitchFamily="34" charset="-120"/>
              </a:rPr>
              <a:t>मन्त्रारिष्टोत्कर्तन निष्पीडन चूषणाग्नि परिषेकाः।</a:t>
            </a:r>
            <a:endParaRPr lang="en-US" sz="2400" dirty="0"/>
          </a:p>
          <a:p>
            <a:pPr algn="ctr" indent="0" marL="0">
              <a:lnSpc>
                <a:spcPct val="115000"/>
              </a:lnSpc>
              <a:buNone/>
            </a:pPr>
            <a:r>
              <a:rPr lang="en-US" sz="2400" dirty="0">
                <a:solidFill>
                  <a:srgbClr val="222222"/>
                </a:solidFill>
                <a:latin typeface="Nirmala UI" pitchFamily="34" charset="0"/>
                <a:ea typeface="Nirmala UI" pitchFamily="34" charset="-122"/>
                <a:cs typeface="Nirmala UI" pitchFamily="34" charset="-120"/>
              </a:rPr>
              <a:t>अवगाह रक्तमोक्षण वमन विरेकोपधानानि ॥</a:t>
            </a:r>
            <a:endParaRPr lang="en-US" sz="2400" dirty="0"/>
          </a:p>
          <a:p>
            <a:pPr algn="ctr" indent="0" marL="0">
              <a:lnSpc>
                <a:spcPct val="115000"/>
              </a:lnSpc>
              <a:buNone/>
            </a:pPr>
            <a:r>
              <a:rPr lang="en-US" sz="2400" b="1" dirty="0">
                <a:solidFill>
                  <a:srgbClr val="C00A28"/>
                </a:solidFill>
                <a:latin typeface="Nirmala UI" pitchFamily="34" charset="0"/>
                <a:ea typeface="Nirmala UI" pitchFamily="34" charset="-122"/>
                <a:cs typeface="Nirmala UI" pitchFamily="34" charset="-120"/>
              </a:rPr>
              <a:t>हृदयावरणा</a:t>
            </a:r>
            <a:pPr algn="ctr" indent="0" marL="0">
              <a:lnSpc>
                <a:spcPct val="115000"/>
              </a:lnSpc>
              <a:buNone/>
            </a:pPr>
            <a:r>
              <a:rPr lang="en-US" sz="2400" dirty="0">
                <a:solidFill>
                  <a:srgbClr val="222222"/>
                </a:solidFill>
                <a:latin typeface="Nirmala UI" pitchFamily="34" charset="0"/>
                <a:ea typeface="Nirmala UI" pitchFamily="34" charset="-122"/>
                <a:cs typeface="Nirmala UI" pitchFamily="34" charset="-120"/>
              </a:rPr>
              <a:t>ञ्जन नस्यधूम लेहौषध प्रशमनानि ।</a:t>
            </a:r>
            <a:endParaRPr lang="en-US" sz="2400" dirty="0"/>
          </a:p>
          <a:p>
            <a:pPr algn="ctr" indent="0" marL="0">
              <a:lnSpc>
                <a:spcPct val="115000"/>
              </a:lnSpc>
              <a:buNone/>
            </a:pPr>
            <a:r>
              <a:rPr lang="en-US" sz="2400" dirty="0">
                <a:solidFill>
                  <a:srgbClr val="222222"/>
                </a:solidFill>
                <a:latin typeface="Nirmala UI" pitchFamily="34" charset="0"/>
                <a:ea typeface="Nirmala UI" pitchFamily="34" charset="-122"/>
                <a:cs typeface="Nirmala UI" pitchFamily="34" charset="-120"/>
              </a:rPr>
              <a:t>प्रतिसारणं प्रतिविषं सञ्ज्ञा संस्थानपनं लेपः ॥</a:t>
            </a:r>
            <a:endParaRPr lang="en-US" sz="2400" dirty="0"/>
          </a:p>
          <a:p>
            <a:pPr algn="ctr" indent="0" marL="0">
              <a:lnSpc>
                <a:spcPct val="115000"/>
              </a:lnSpc>
              <a:buNone/>
            </a:pPr>
            <a:r>
              <a:rPr lang="en-US" sz="2400" dirty="0">
                <a:solidFill>
                  <a:srgbClr val="222222"/>
                </a:solidFill>
                <a:latin typeface="Nirmala UI" pitchFamily="34" charset="0"/>
                <a:ea typeface="Nirmala UI" pitchFamily="34" charset="-122"/>
                <a:cs typeface="Nirmala UI" pitchFamily="34" charset="-120"/>
              </a:rPr>
              <a:t>मृतसञ्जीवनमेव च विंशतिरेते चतुर्भिरधिकाः।</a:t>
            </a:r>
            <a:endParaRPr lang="en-US" sz="2400" dirty="0"/>
          </a:p>
          <a:p>
            <a:pPr algn="ctr" indent="0" marL="0">
              <a:lnSpc>
                <a:spcPct val="115000"/>
              </a:lnSpc>
              <a:spcAft>
                <a:spcPts val="1000"/>
              </a:spcAft>
              <a:buNone/>
            </a:pPr>
            <a:r>
              <a:rPr lang="en-US" sz="2400" dirty="0">
                <a:solidFill>
                  <a:srgbClr val="222222"/>
                </a:solidFill>
                <a:latin typeface="Nirmala UI" pitchFamily="34" charset="0"/>
                <a:ea typeface="Nirmala UI" pitchFamily="34" charset="-122"/>
                <a:cs typeface="Nirmala UI" pitchFamily="34" charset="-120"/>
              </a:rPr>
              <a:t>स्युरुपक्रमा यथा ये यत्र योज्याः शृणु तथा तान्॥</a:t>
            </a:r>
            <a:endParaRPr lang="en-US" sz="2400" dirty="0"/>
          </a:p>
          <a:p>
            <a:pPr algn="ctr" indent="0" marL="0">
              <a:lnSpc>
                <a:spcPct val="115000"/>
              </a:lnSpc>
              <a:buNone/>
            </a:pPr>
            <a:r>
              <a:rPr lang="en-US" sz="2000" b="1" dirty="0">
                <a:solidFill>
                  <a:srgbClr val="222222"/>
                </a:solidFill>
                <a:latin typeface="Nirmala UI" pitchFamily="34" charset="0"/>
                <a:ea typeface="Nirmala UI" pitchFamily="34" charset="-122"/>
                <a:cs typeface="Nirmala UI" pitchFamily="34" charset="-120"/>
              </a:rPr>
              <a:t>(च.चि. 23/35-37)</a:t>
            </a:r>
            <a:endParaRPr lang="en-US" sz="2400" dirty="0"/>
          </a:p>
        </p:txBody>
      </p:sp>
      <p:pic>
        <p:nvPicPr>
          <p:cNvPr id="7" name="Image 1" descr="Snake">    </p:cNvPr>
          <p:cNvPicPr>
            <a:picLocks noChangeAspect="1"/>
          </p:cNvPicPr>
          <p:nvPr/>
        </p:nvPicPr>
        <p:blipFill>
          <a:blip r:embed="rId2"/>
          <a:stretch>
            <a:fillRect/>
          </a:stretch>
        </p:blipFill>
        <p:spPr>
          <a:xfrm>
            <a:off x="160814" y="4343400"/>
            <a:ext cx="2055812" cy="2377440"/>
          </a:xfrm>
          <a:prstGeom prst="rect">
            <a:avLst/>
          </a:prstGeom>
        </p:spPr>
      </p:pic>
      <p:pic>
        <p:nvPicPr>
          <p:cNvPr id="8" name="Image 2" descr="Poison bottle">    </p:cNvPr>
          <p:cNvPicPr>
            <a:picLocks noChangeAspect="1"/>
          </p:cNvPicPr>
          <p:nvPr/>
        </p:nvPicPr>
        <p:blipFill>
          <a:blip r:embed="rId3"/>
          <a:stretch>
            <a:fillRect/>
          </a:stretch>
        </p:blipFill>
        <p:spPr>
          <a:xfrm>
            <a:off x="10091599" y="4480560"/>
            <a:ext cx="1670962" cy="21945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D4331"/>
        </a:solidFill>
      </p:bgPr>
    </p:bg>
    <p:spTree>
      <p:nvGrpSpPr>
        <p:cNvPr id="1" name=""/>
        <p:cNvGrpSpPr/>
        <p:nvPr/>
      </p:nvGrpSpPr>
      <p:grpSpPr>
        <a:xfrm>
          <a:off x="0" y="0"/>
          <a:ext cx="0" cy="0"/>
          <a:chOff x="0" y="0"/>
          <a:chExt cx="0" cy="0"/>
        </a:xfrm>
      </p:grpSpPr>
      <p:sp>
        <p:nvSpPr>
          <p:cNvPr id="2" name="Text 0"/>
          <p:cNvSpPr txBox="1"/>
          <p:nvPr/>
        </p:nvSpPr>
        <p:spPr>
          <a:xfrm>
            <a:off x="457200" y="228600"/>
            <a:ext cx="11274552" cy="685800"/>
          </a:xfrm>
          <a:prstGeom prst="rect">
            <a:avLst/>
          </a:prstGeom>
          <a:noFill/>
          <a:ln/>
        </p:spPr>
        <p:txBody>
          <a:bodyPr wrap="square" lIns="635" tIns="635" rIns="635" bIns="635"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According to Acharya Charak</a:t>
            </a:r>
            <a:endParaRPr lang="en-US" sz="3400" dirty="0"/>
          </a:p>
        </p:txBody>
      </p:sp>
      <p:sp>
        <p:nvSpPr>
          <p:cNvPr id="3" name="Text 1"/>
          <p:cNvSpPr txBox="1"/>
          <p:nvPr/>
        </p:nvSpPr>
        <p:spPr>
          <a:xfrm>
            <a:off x="457200" y="914400"/>
            <a:ext cx="11274552" cy="457200"/>
          </a:xfrm>
          <a:prstGeom prst="rect">
            <a:avLst/>
          </a:prstGeom>
          <a:noFill/>
          <a:ln/>
        </p:spPr>
        <p:txBody>
          <a:bodyPr wrap="square" lIns="635" tIns="635" rIns="635" bIns="635" rtlCol="0" anchor="ctr"/>
          <a:lstStyle/>
          <a:p>
            <a:pPr algn="ctr" indent="0" marL="0">
              <a:buNone/>
            </a:pPr>
            <a:r>
              <a:rPr lang="en-US" sz="2000" dirty="0">
                <a:solidFill>
                  <a:srgbClr val="FFDE59"/>
                </a:solidFill>
                <a:latin typeface="Nirmala UI" pitchFamily="34" charset="0"/>
                <a:ea typeface="Nirmala UI" pitchFamily="34" charset="-122"/>
                <a:cs typeface="Nirmala UI" pitchFamily="34" charset="-120"/>
              </a:rPr>
              <a:t>चरक संहिता — चिकित्सा स्थान — विष चिकित्सा</a:t>
            </a:r>
            <a:endParaRPr lang="en-US" sz="2000" dirty="0"/>
          </a:p>
        </p:txBody>
      </p:sp>
      <p:pic>
        <p:nvPicPr>
          <p:cNvPr id="4" name="Image 0" descr="/tmp/claude-0/-home-user-temp/7f25fba1-67f1-50aa-a5ca-20648b7772ad/scratchpad/build/img/image11.png">    </p:cNvPr>
          <p:cNvPicPr>
            <a:picLocks noChangeAspect="1"/>
          </p:cNvPicPr>
          <p:nvPr/>
        </p:nvPicPr>
        <p:blipFill>
          <a:blip r:embed="rId1"/>
          <a:stretch>
            <a:fillRect/>
          </a:stretch>
        </p:blipFill>
        <p:spPr>
          <a:xfrm>
            <a:off x="1554480" y="1600200"/>
            <a:ext cx="9326880" cy="4983480"/>
          </a:xfrm>
          <a:prstGeom prst="rect">
            <a:avLst/>
          </a:prstGeom>
        </p:spPr>
      </p:pic>
      <p:sp>
        <p:nvSpPr>
          <p:cNvPr id="5" name="Text 2"/>
          <p:cNvSpPr txBox="1"/>
          <p:nvPr/>
        </p:nvSpPr>
        <p:spPr>
          <a:xfrm>
            <a:off x="3017520" y="2057400"/>
            <a:ext cx="7315200" cy="4023360"/>
          </a:xfrm>
          <a:prstGeom prst="rect">
            <a:avLst/>
          </a:prstGeom>
          <a:noFill/>
          <a:ln/>
        </p:spPr>
        <p:txBody>
          <a:bodyPr wrap="square" lIns="635" tIns="635" rIns="635" bIns="635" rtlCol="0" anchor="ctr"/>
          <a:lstStyle/>
          <a:p>
            <a:pPr algn="ctr" indent="0" marL="0">
              <a:lnSpc>
                <a:spcPct val="110000"/>
              </a:lnSpc>
              <a:buNone/>
            </a:pPr>
            <a:r>
              <a:rPr lang="en-US" sz="2600" b="1" dirty="0">
                <a:solidFill>
                  <a:srgbClr val="C00A28"/>
                </a:solidFill>
                <a:latin typeface="Nirmala UI" pitchFamily="34" charset="0"/>
                <a:ea typeface="Nirmala UI" pitchFamily="34" charset="-122"/>
                <a:cs typeface="Nirmala UI" pitchFamily="34" charset="-120"/>
              </a:rPr>
              <a:t>आदौ हृदयं रक्ष्यं तस्यावरणं पिबेद्यथालाभम्।</a:t>
            </a:r>
            <a:endParaRPr lang="en-US" sz="2600" dirty="0"/>
          </a:p>
          <a:p>
            <a:pPr algn="ctr" indent="0" marL="0">
              <a:lnSpc>
                <a:spcPct val="110000"/>
              </a:lnSpc>
              <a:spcAft>
                <a:spcPts val="1000"/>
              </a:spcAft>
              <a:buNone/>
            </a:pPr>
            <a:r>
              <a:rPr lang="en-US" sz="2600" b="1" dirty="0">
                <a:solidFill>
                  <a:srgbClr val="C00A28"/>
                </a:solidFill>
                <a:latin typeface="Nirmala UI" pitchFamily="34" charset="0"/>
                <a:ea typeface="Nirmala UI" pitchFamily="34" charset="-122"/>
                <a:cs typeface="Nirmala UI" pitchFamily="34" charset="-120"/>
              </a:rPr>
              <a:t>मधुसर्पिर्मज्जपयोगैरिकमथ गोमयरसं वा॥</a:t>
            </a:r>
            <a:endParaRPr lang="en-US" sz="2600" dirty="0"/>
          </a:p>
          <a:p>
            <a:pPr algn="ctr" indent="0" marL="0">
              <a:lnSpc>
                <a:spcPct val="110000"/>
              </a:lnSpc>
              <a:buNone/>
            </a:pPr>
            <a:r>
              <a:rPr lang="en-US" sz="2600" b="1" dirty="0">
                <a:solidFill>
                  <a:srgbClr val="C00A28"/>
                </a:solidFill>
                <a:latin typeface="Nirmala UI" pitchFamily="34" charset="0"/>
                <a:ea typeface="Nirmala UI" pitchFamily="34" charset="-122"/>
                <a:cs typeface="Nirmala UI" pitchFamily="34" charset="-120"/>
              </a:rPr>
              <a:t>इक्षुं सुपक्वमथवा काकं निष्पीड्य तद्रसं वरणम्।</a:t>
            </a:r>
            <a:endParaRPr lang="en-US" sz="2600" dirty="0"/>
          </a:p>
          <a:p>
            <a:pPr algn="ctr" indent="0" marL="0">
              <a:lnSpc>
                <a:spcPct val="110000"/>
              </a:lnSpc>
              <a:spcAft>
                <a:spcPts val="1400"/>
              </a:spcAft>
              <a:buNone/>
            </a:pPr>
            <a:r>
              <a:rPr lang="en-US" sz="2600" b="1" dirty="0">
                <a:solidFill>
                  <a:srgbClr val="C00A28"/>
                </a:solidFill>
                <a:latin typeface="Nirmala UI" pitchFamily="34" charset="0"/>
                <a:ea typeface="Nirmala UI" pitchFamily="34" charset="-122"/>
                <a:cs typeface="Nirmala UI" pitchFamily="34" charset="-120"/>
              </a:rPr>
              <a:t>छागादीनां वाऽसृग्भस्म मृदं वा पिबेदाशु॥</a:t>
            </a:r>
            <a:endParaRPr lang="en-US" sz="2600" dirty="0"/>
          </a:p>
          <a:p>
            <a:pPr algn="ctr" indent="0" marL="0">
              <a:lnSpc>
                <a:spcPct val="110000"/>
              </a:lnSpc>
              <a:buNone/>
            </a:pPr>
            <a:r>
              <a:rPr lang="en-US" sz="2000" b="1" dirty="0">
                <a:solidFill>
                  <a:srgbClr val="222222"/>
                </a:solidFill>
                <a:latin typeface="Nirmala UI" pitchFamily="34" charset="0"/>
                <a:ea typeface="Nirmala UI" pitchFamily="34" charset="-122"/>
                <a:cs typeface="Nirmala UI" pitchFamily="34" charset="-120"/>
              </a:rPr>
              <a:t>— चरक चि. 23/47–48</a:t>
            </a:r>
            <a:endParaRPr lang="en-US" sz="2600" dirty="0"/>
          </a:p>
        </p:txBody>
      </p:sp>
      <p:pic>
        <p:nvPicPr>
          <p:cNvPr id="6" name="Image 1" descr="Acharya Charak reading">    </p:cNvPr>
          <p:cNvPicPr>
            <a:picLocks noChangeAspect="1"/>
          </p:cNvPicPr>
          <p:nvPr/>
        </p:nvPicPr>
        <p:blipFill>
          <a:blip r:embed="rId2"/>
          <a:stretch>
            <a:fillRect/>
          </a:stretch>
        </p:blipFill>
        <p:spPr>
          <a:xfrm>
            <a:off x="0" y="3931920"/>
            <a:ext cx="2926080" cy="2926080"/>
          </a:xfrm>
          <a:prstGeom prst="rect">
            <a:avLst/>
          </a:prstGeom>
        </p:spPr>
      </p:pic>
      <p:pic>
        <p:nvPicPr>
          <p:cNvPr id="7" name="Image 2" descr="Flower">    </p:cNvPr>
          <p:cNvPicPr>
            <a:picLocks noChangeAspect="1"/>
          </p:cNvPicPr>
          <p:nvPr/>
        </p:nvPicPr>
        <p:blipFill>
          <a:blip r:embed="rId3"/>
          <a:stretch>
            <a:fillRect/>
          </a:stretch>
        </p:blipFill>
        <p:spPr>
          <a:xfrm>
            <a:off x="10972800" y="3928305"/>
            <a:ext cx="1143000" cy="21103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D4331"/>
        </a:solidFill>
      </p:bgPr>
    </p:bg>
    <p:spTree>
      <p:nvGrpSpPr>
        <p:cNvPr id="1" name=""/>
        <p:cNvGrpSpPr/>
        <p:nvPr/>
      </p:nvGrpSpPr>
      <p:grpSpPr>
        <a:xfrm>
          <a:off x="0" y="0"/>
          <a:ext cx="0" cy="0"/>
          <a:chOff x="0" y="0"/>
          <a:chExt cx="0" cy="0"/>
        </a:xfrm>
      </p:grpSpPr>
      <p:pic>
        <p:nvPicPr>
          <p:cNvPr id="2" name="Image 0" descr="/tmp/claude-0/-home-user-temp/7f25fba1-67f1-50aa-a5ca-20648b7772ad/scratchpad/build/img/image11.png">    </p:cNvPr>
          <p:cNvPicPr>
            <a:picLocks noChangeAspect="1"/>
          </p:cNvPicPr>
          <p:nvPr/>
        </p:nvPicPr>
        <p:blipFill>
          <a:blip r:embed="rId1"/>
          <a:stretch>
            <a:fillRect/>
          </a:stretch>
        </p:blipFill>
        <p:spPr>
          <a:xfrm>
            <a:off x="182880" y="182880"/>
            <a:ext cx="11823192" cy="6492240"/>
          </a:xfrm>
          <a:prstGeom prst="rect">
            <a:avLst/>
          </a:prstGeom>
        </p:spPr>
      </p:pic>
      <p:pic>
        <p:nvPicPr>
          <p:cNvPr id="3" name="Image 1" descr="/tmp/claude-0/-home-user-temp/7f25fba1-67f1-50aa-a5ca-20648b7772ad/scratchpad/build/img/image16.png">    </p:cNvPr>
          <p:cNvPicPr>
            <a:picLocks noChangeAspect="1"/>
          </p:cNvPicPr>
          <p:nvPr/>
        </p:nvPicPr>
        <p:blipFill>
          <a:blip r:embed="rId2"/>
          <a:stretch>
            <a:fillRect/>
          </a:stretch>
        </p:blipFill>
        <p:spPr>
          <a:xfrm>
            <a:off x="822960" y="685800"/>
            <a:ext cx="4206240" cy="566928"/>
          </a:xfrm>
          <a:prstGeom prst="rect">
            <a:avLst/>
          </a:prstGeom>
        </p:spPr>
      </p:pic>
      <p:sp>
        <p:nvSpPr>
          <p:cNvPr id="4" name="Text 0"/>
          <p:cNvSpPr txBox="1"/>
          <p:nvPr/>
        </p:nvSpPr>
        <p:spPr>
          <a:xfrm>
            <a:off x="822960" y="685800"/>
            <a:ext cx="4206240" cy="566928"/>
          </a:xfrm>
          <a:prstGeom prst="rect">
            <a:avLst/>
          </a:prstGeom>
          <a:noFill/>
          <a:ln/>
        </p:spPr>
        <p:txBody>
          <a:bodyPr wrap="square" lIns="635" tIns="635" rIns="635" bIns="635" rtlCol="0" anchor="ctr"/>
          <a:lstStyle/>
          <a:p>
            <a:pPr algn="ctr" indent="0" marL="0">
              <a:buNone/>
            </a:pPr>
            <a:r>
              <a:rPr lang="en-US" sz="2000" dirty="0">
                <a:solidFill>
                  <a:srgbClr val="222222"/>
                </a:solidFill>
                <a:latin typeface="Nirmala UI" pitchFamily="34" charset="0"/>
                <a:ea typeface="Nirmala UI" pitchFamily="34" charset="-122"/>
                <a:cs typeface="Nirmala UI" pitchFamily="34" charset="-120"/>
              </a:rPr>
              <a:t>विष सेवन / विष प्रभाव</a:t>
            </a:r>
            <a:endParaRPr lang="en-US" sz="2000" dirty="0"/>
          </a:p>
        </p:txBody>
      </p:sp>
      <p:sp>
        <p:nvSpPr>
          <p:cNvPr id="5" name="Shape 1"/>
          <p:cNvSpPr/>
          <p:nvPr/>
        </p:nvSpPr>
        <p:spPr>
          <a:xfrm>
            <a:off x="2807208" y="1289304"/>
            <a:ext cx="237744" cy="256032"/>
          </a:xfrm>
          <a:prstGeom prst="downArrow">
            <a:avLst/>
          </a:prstGeom>
          <a:solidFill>
            <a:srgbClr val="3D4331"/>
          </a:solidFill>
          <a:ln w="12700">
            <a:solidFill>
              <a:srgbClr val="3D4331"/>
            </a:solidFill>
            <a:prstDash val="solid"/>
          </a:ln>
        </p:spPr>
      </p:sp>
      <p:pic>
        <p:nvPicPr>
          <p:cNvPr id="6" name="Image 2" descr="/tmp/claude-0/-home-user-temp/7f25fba1-67f1-50aa-a5ca-20648b7772ad/scratchpad/build/img/image16.png">    </p:cNvPr>
          <p:cNvPicPr>
            <a:picLocks noChangeAspect="1"/>
          </p:cNvPicPr>
          <p:nvPr/>
        </p:nvPicPr>
        <p:blipFill>
          <a:blip r:embed="rId3"/>
          <a:stretch>
            <a:fillRect/>
          </a:stretch>
        </p:blipFill>
        <p:spPr>
          <a:xfrm>
            <a:off x="822960" y="1581912"/>
            <a:ext cx="4206240" cy="566928"/>
          </a:xfrm>
          <a:prstGeom prst="rect">
            <a:avLst/>
          </a:prstGeom>
        </p:spPr>
      </p:pic>
      <p:sp>
        <p:nvSpPr>
          <p:cNvPr id="7" name="Text 2"/>
          <p:cNvSpPr txBox="1"/>
          <p:nvPr/>
        </p:nvSpPr>
        <p:spPr>
          <a:xfrm>
            <a:off x="822960" y="1581912"/>
            <a:ext cx="4206240" cy="566928"/>
          </a:xfrm>
          <a:prstGeom prst="rect">
            <a:avLst/>
          </a:prstGeom>
          <a:noFill/>
          <a:ln/>
        </p:spPr>
        <p:txBody>
          <a:bodyPr wrap="square" lIns="635" tIns="635" rIns="635" bIns="635" rtlCol="0" anchor="ctr"/>
          <a:lstStyle/>
          <a:p>
            <a:pPr algn="ctr" indent="0" marL="0">
              <a:buNone/>
            </a:pPr>
            <a:r>
              <a:rPr lang="en-US" sz="2000" dirty="0">
                <a:solidFill>
                  <a:srgbClr val="222222"/>
                </a:solidFill>
                <a:latin typeface="Nirmala UI" pitchFamily="34" charset="0"/>
                <a:ea typeface="Nirmala UI" pitchFamily="34" charset="-122"/>
                <a:cs typeface="Nirmala UI" pitchFamily="34" charset="-120"/>
              </a:rPr>
              <a:t>वात, पित्त, कफ दूषित</a:t>
            </a:r>
            <a:endParaRPr lang="en-US" sz="2000" dirty="0"/>
          </a:p>
        </p:txBody>
      </p:sp>
      <p:sp>
        <p:nvSpPr>
          <p:cNvPr id="8" name="Shape 3"/>
          <p:cNvSpPr/>
          <p:nvPr/>
        </p:nvSpPr>
        <p:spPr>
          <a:xfrm>
            <a:off x="2807208" y="2185416"/>
            <a:ext cx="237744" cy="256032"/>
          </a:xfrm>
          <a:prstGeom prst="downArrow">
            <a:avLst/>
          </a:prstGeom>
          <a:solidFill>
            <a:srgbClr val="3D4331"/>
          </a:solidFill>
          <a:ln w="12700">
            <a:solidFill>
              <a:srgbClr val="3D4331"/>
            </a:solidFill>
            <a:prstDash val="solid"/>
          </a:ln>
        </p:spPr>
      </p:sp>
      <p:pic>
        <p:nvPicPr>
          <p:cNvPr id="9" name="Image 3" descr="/tmp/claude-0/-home-user-temp/7f25fba1-67f1-50aa-a5ca-20648b7772ad/scratchpad/build/img/image16.png">    </p:cNvPr>
          <p:cNvPicPr>
            <a:picLocks noChangeAspect="1"/>
          </p:cNvPicPr>
          <p:nvPr/>
        </p:nvPicPr>
        <p:blipFill>
          <a:blip r:embed="rId4"/>
          <a:stretch>
            <a:fillRect/>
          </a:stretch>
        </p:blipFill>
        <p:spPr>
          <a:xfrm>
            <a:off x="822960" y="2478024"/>
            <a:ext cx="4206240" cy="566928"/>
          </a:xfrm>
          <a:prstGeom prst="rect">
            <a:avLst/>
          </a:prstGeom>
        </p:spPr>
      </p:pic>
      <p:sp>
        <p:nvSpPr>
          <p:cNvPr id="10" name="Text 4"/>
          <p:cNvSpPr txBox="1"/>
          <p:nvPr/>
        </p:nvSpPr>
        <p:spPr>
          <a:xfrm>
            <a:off x="822960" y="2478024"/>
            <a:ext cx="4206240" cy="566928"/>
          </a:xfrm>
          <a:prstGeom prst="rect">
            <a:avLst/>
          </a:prstGeom>
          <a:noFill/>
          <a:ln/>
        </p:spPr>
        <p:txBody>
          <a:bodyPr wrap="square" lIns="635" tIns="635" rIns="635" bIns="635" rtlCol="0" anchor="ctr"/>
          <a:lstStyle/>
          <a:p>
            <a:pPr algn="ctr" indent="0" marL="0">
              <a:buNone/>
            </a:pPr>
            <a:r>
              <a:rPr lang="en-US" sz="2000" dirty="0">
                <a:solidFill>
                  <a:srgbClr val="222222"/>
                </a:solidFill>
                <a:latin typeface="Nirmala UI" pitchFamily="34" charset="0"/>
                <a:ea typeface="Nirmala UI" pitchFamily="34" charset="-122"/>
                <a:cs typeface="Nirmala UI" pitchFamily="34" charset="-120"/>
              </a:rPr>
              <a:t>हृदय को बाधित</a:t>
            </a:r>
            <a:endParaRPr lang="en-US" sz="2000" dirty="0"/>
          </a:p>
        </p:txBody>
      </p:sp>
      <p:sp>
        <p:nvSpPr>
          <p:cNvPr id="11" name="Shape 5"/>
          <p:cNvSpPr/>
          <p:nvPr/>
        </p:nvSpPr>
        <p:spPr>
          <a:xfrm>
            <a:off x="2807208" y="3081528"/>
            <a:ext cx="237744" cy="256032"/>
          </a:xfrm>
          <a:prstGeom prst="downArrow">
            <a:avLst/>
          </a:prstGeom>
          <a:solidFill>
            <a:srgbClr val="3D4331"/>
          </a:solidFill>
          <a:ln w="12700">
            <a:solidFill>
              <a:srgbClr val="3D4331"/>
            </a:solidFill>
            <a:prstDash val="solid"/>
          </a:ln>
        </p:spPr>
      </p:sp>
      <p:pic>
        <p:nvPicPr>
          <p:cNvPr id="12" name="Image 4" descr="/tmp/claude-0/-home-user-temp/7f25fba1-67f1-50aa-a5ca-20648b7772ad/scratchpad/build/img/image16.png">    </p:cNvPr>
          <p:cNvPicPr>
            <a:picLocks noChangeAspect="1"/>
          </p:cNvPicPr>
          <p:nvPr/>
        </p:nvPicPr>
        <p:blipFill>
          <a:blip r:embed="rId5"/>
          <a:stretch>
            <a:fillRect/>
          </a:stretch>
        </p:blipFill>
        <p:spPr>
          <a:xfrm>
            <a:off x="822960" y="3374136"/>
            <a:ext cx="4206240" cy="566928"/>
          </a:xfrm>
          <a:prstGeom prst="rect">
            <a:avLst/>
          </a:prstGeom>
        </p:spPr>
      </p:pic>
      <p:sp>
        <p:nvSpPr>
          <p:cNvPr id="13" name="Text 6"/>
          <p:cNvSpPr txBox="1"/>
          <p:nvPr/>
        </p:nvSpPr>
        <p:spPr>
          <a:xfrm>
            <a:off x="822960" y="3374136"/>
            <a:ext cx="4206240" cy="566928"/>
          </a:xfrm>
          <a:prstGeom prst="rect">
            <a:avLst/>
          </a:prstGeom>
          <a:noFill/>
          <a:ln/>
        </p:spPr>
        <p:txBody>
          <a:bodyPr wrap="square" lIns="635" tIns="635" rIns="635" bIns="635" rtlCol="0" anchor="ctr"/>
          <a:lstStyle/>
          <a:p>
            <a:pPr algn="ctr" indent="0" marL="0">
              <a:buNone/>
            </a:pPr>
            <a:r>
              <a:rPr lang="en-US" sz="2000" dirty="0">
                <a:solidFill>
                  <a:srgbClr val="222222"/>
                </a:solidFill>
                <a:latin typeface="Nirmala UI" pitchFamily="34" charset="0"/>
                <a:ea typeface="Nirmala UI" pitchFamily="34" charset="-122"/>
                <a:cs typeface="Nirmala UI" pitchFamily="34" charset="-120"/>
              </a:rPr>
              <a:t>हृदय आक्रांत</a:t>
            </a:r>
            <a:endParaRPr lang="en-US" sz="2000" dirty="0"/>
          </a:p>
        </p:txBody>
      </p:sp>
      <p:sp>
        <p:nvSpPr>
          <p:cNvPr id="14" name="Shape 7"/>
          <p:cNvSpPr/>
          <p:nvPr/>
        </p:nvSpPr>
        <p:spPr>
          <a:xfrm>
            <a:off x="2807208" y="3977640"/>
            <a:ext cx="237744" cy="256032"/>
          </a:xfrm>
          <a:prstGeom prst="downArrow">
            <a:avLst/>
          </a:prstGeom>
          <a:solidFill>
            <a:srgbClr val="3D4331"/>
          </a:solidFill>
          <a:ln w="12700">
            <a:solidFill>
              <a:srgbClr val="3D4331"/>
            </a:solidFill>
            <a:prstDash val="solid"/>
          </a:ln>
        </p:spPr>
      </p:sp>
      <p:pic>
        <p:nvPicPr>
          <p:cNvPr id="15" name="Image 5" descr="/tmp/claude-0/-home-user-temp/7f25fba1-67f1-50aa-a5ca-20648b7772ad/scratchpad/build/img/image16.png">    </p:cNvPr>
          <p:cNvPicPr>
            <a:picLocks noChangeAspect="1"/>
          </p:cNvPicPr>
          <p:nvPr/>
        </p:nvPicPr>
        <p:blipFill>
          <a:blip r:embed="rId6"/>
          <a:stretch>
            <a:fillRect/>
          </a:stretch>
        </p:blipFill>
        <p:spPr>
          <a:xfrm>
            <a:off x="822960" y="4270248"/>
            <a:ext cx="4206240" cy="566928"/>
          </a:xfrm>
          <a:prstGeom prst="rect">
            <a:avLst/>
          </a:prstGeom>
        </p:spPr>
      </p:pic>
      <p:sp>
        <p:nvSpPr>
          <p:cNvPr id="16" name="Text 8"/>
          <p:cNvSpPr txBox="1"/>
          <p:nvPr/>
        </p:nvSpPr>
        <p:spPr>
          <a:xfrm>
            <a:off x="822960" y="4270248"/>
            <a:ext cx="4206240" cy="566928"/>
          </a:xfrm>
          <a:prstGeom prst="rect">
            <a:avLst/>
          </a:prstGeom>
          <a:noFill/>
          <a:ln/>
        </p:spPr>
        <p:txBody>
          <a:bodyPr wrap="square" lIns="635" tIns="635" rIns="635" bIns="635" rtlCol="0" anchor="ctr"/>
          <a:lstStyle/>
          <a:p>
            <a:pPr algn="ctr" indent="0" marL="0">
              <a:buNone/>
            </a:pPr>
            <a:r>
              <a:rPr lang="en-US" sz="2000" dirty="0">
                <a:solidFill>
                  <a:srgbClr val="222222"/>
                </a:solidFill>
                <a:latin typeface="Nirmala UI" pitchFamily="34" charset="0"/>
                <a:ea typeface="Nirmala UI" pitchFamily="34" charset="-122"/>
                <a:cs typeface="Nirmala UI" pitchFamily="34" charset="-120"/>
              </a:rPr>
              <a:t>शरीर में व्याप्त</a:t>
            </a:r>
            <a:endParaRPr lang="en-US" sz="2000" dirty="0"/>
          </a:p>
        </p:txBody>
      </p:sp>
      <p:sp>
        <p:nvSpPr>
          <p:cNvPr id="17" name="Shape 9"/>
          <p:cNvSpPr/>
          <p:nvPr/>
        </p:nvSpPr>
        <p:spPr>
          <a:xfrm>
            <a:off x="2807208" y="4873752"/>
            <a:ext cx="237744" cy="256032"/>
          </a:xfrm>
          <a:prstGeom prst="downArrow">
            <a:avLst/>
          </a:prstGeom>
          <a:solidFill>
            <a:srgbClr val="3D4331"/>
          </a:solidFill>
          <a:ln w="12700">
            <a:solidFill>
              <a:srgbClr val="3D4331"/>
            </a:solidFill>
            <a:prstDash val="solid"/>
          </a:ln>
        </p:spPr>
      </p:sp>
      <p:pic>
        <p:nvPicPr>
          <p:cNvPr id="18" name="Image 6" descr="/tmp/claude-0/-home-user-temp/7f25fba1-67f1-50aa-a5ca-20648b7772ad/scratchpad/build/img/image16.png">    </p:cNvPr>
          <p:cNvPicPr>
            <a:picLocks noChangeAspect="1"/>
          </p:cNvPicPr>
          <p:nvPr/>
        </p:nvPicPr>
        <p:blipFill>
          <a:blip r:embed="rId7"/>
          <a:stretch>
            <a:fillRect/>
          </a:stretch>
        </p:blipFill>
        <p:spPr>
          <a:xfrm>
            <a:off x="822960" y="5166360"/>
            <a:ext cx="4206240" cy="566928"/>
          </a:xfrm>
          <a:prstGeom prst="rect">
            <a:avLst/>
          </a:prstGeom>
        </p:spPr>
      </p:pic>
      <p:sp>
        <p:nvSpPr>
          <p:cNvPr id="19" name="Text 10"/>
          <p:cNvSpPr txBox="1"/>
          <p:nvPr/>
        </p:nvSpPr>
        <p:spPr>
          <a:xfrm>
            <a:off x="822960" y="5166360"/>
            <a:ext cx="4206240" cy="566928"/>
          </a:xfrm>
          <a:prstGeom prst="rect">
            <a:avLst/>
          </a:prstGeom>
          <a:noFill/>
          <a:ln/>
        </p:spPr>
        <p:txBody>
          <a:bodyPr wrap="square" lIns="635" tIns="635" rIns="635" bIns="635" rtlCol="0" anchor="ctr"/>
          <a:lstStyle/>
          <a:p>
            <a:pPr algn="ctr" indent="0" marL="0">
              <a:buNone/>
            </a:pPr>
            <a:r>
              <a:rPr lang="en-US" sz="2000" b="1" dirty="0">
                <a:solidFill>
                  <a:srgbClr val="C00A28"/>
                </a:solidFill>
                <a:latin typeface="Nirmala UI" pitchFamily="34" charset="0"/>
                <a:ea typeface="Nirmala UI" pitchFamily="34" charset="-122"/>
                <a:cs typeface="Nirmala UI" pitchFamily="34" charset="-120"/>
              </a:rPr>
              <a:t>रोगी की मृत्यु</a:t>
            </a:r>
            <a:endParaRPr lang="en-US" sz="2000" dirty="0"/>
          </a:p>
        </p:txBody>
      </p:sp>
      <p:pic>
        <p:nvPicPr>
          <p:cNvPr id="20" name="Image 7" descr="Patient in bed">    </p:cNvPr>
          <p:cNvPicPr>
            <a:picLocks noChangeAspect="1"/>
          </p:cNvPicPr>
          <p:nvPr/>
        </p:nvPicPr>
        <p:blipFill>
          <a:blip r:embed="rId8"/>
          <a:stretch>
            <a:fillRect/>
          </a:stretch>
        </p:blipFill>
        <p:spPr>
          <a:xfrm>
            <a:off x="5074920" y="5164115"/>
            <a:ext cx="1463040" cy="964610"/>
          </a:xfrm>
          <a:prstGeom prst="rect">
            <a:avLst/>
          </a:prstGeom>
        </p:spPr>
      </p:pic>
      <p:sp>
        <p:nvSpPr>
          <p:cNvPr id="21" name="Text 11"/>
          <p:cNvSpPr txBox="1"/>
          <p:nvPr/>
        </p:nvSpPr>
        <p:spPr>
          <a:xfrm>
            <a:off x="5852160" y="640080"/>
            <a:ext cx="5669280" cy="548640"/>
          </a:xfrm>
          <a:prstGeom prst="rect">
            <a:avLst/>
          </a:prstGeom>
          <a:noFill/>
          <a:ln/>
        </p:spPr>
        <p:txBody>
          <a:bodyPr wrap="square" lIns="635" tIns="635" rIns="635" bIns="635" rtlCol="0" anchor="ctr"/>
          <a:lstStyle/>
          <a:p>
            <a:pPr algn="ctr" indent="0" marL="0">
              <a:buNone/>
            </a:pPr>
            <a:r>
              <a:rPr lang="en-US" sz="2800" b="1" u="sng" dirty="0">
                <a:solidFill>
                  <a:srgbClr val="222222"/>
                </a:solidFill>
                <a:latin typeface="Nirmala UI" pitchFamily="34" charset="0"/>
                <a:ea typeface="Nirmala UI" pitchFamily="34" charset="-122"/>
                <a:cs typeface="Nirmala UI" pitchFamily="34" charset="-120"/>
              </a:rPr>
              <a:t>आवरण क्रिया</a:t>
            </a:r>
            <a:endParaRPr lang="en-US" sz="2800" dirty="0"/>
          </a:p>
        </p:txBody>
      </p:sp>
      <p:sp>
        <p:nvSpPr>
          <p:cNvPr id="22" name="Text 12"/>
          <p:cNvSpPr txBox="1"/>
          <p:nvPr/>
        </p:nvSpPr>
        <p:spPr>
          <a:xfrm>
            <a:off x="5852160" y="1325880"/>
            <a:ext cx="5669280" cy="2743200"/>
          </a:xfrm>
          <a:prstGeom prst="rect">
            <a:avLst/>
          </a:prstGeom>
          <a:noFill/>
          <a:ln/>
        </p:spPr>
        <p:txBody>
          <a:bodyPr wrap="square" lIns="635" tIns="635" rIns="635" bIns="635" rtlCol="0" anchor="t"/>
          <a:lstStyle/>
          <a:p>
            <a:pPr algn="l" indent="0" marL="0">
              <a:lnSpc>
                <a:spcPct val="115000"/>
              </a:lnSpc>
              <a:buNone/>
            </a:pPr>
            <a:r>
              <a:rPr lang="en-US" sz="2100" dirty="0">
                <a:solidFill>
                  <a:srgbClr val="222222"/>
                </a:solidFill>
                <a:latin typeface="Nirmala UI" pitchFamily="34" charset="0"/>
                <a:ea typeface="Nirmala UI" pitchFamily="34" charset="-122"/>
                <a:cs typeface="Nirmala UI" pitchFamily="34" charset="-120"/>
              </a:rPr>
              <a:t>आचार्य चरक के अनुसार सबसे पहले, हृदय को </a:t>
            </a:r>
            <a:pPr algn="l" indent="0" marL="0">
              <a:lnSpc>
                <a:spcPct val="115000"/>
              </a:lnSpc>
              <a:buNone/>
            </a:pPr>
            <a:r>
              <a:rPr lang="en-US" sz="2100" b="1" dirty="0">
                <a:solidFill>
                  <a:srgbClr val="222222"/>
                </a:solidFill>
                <a:latin typeface="Nirmala UI" pitchFamily="34" charset="0"/>
                <a:ea typeface="Nirmala UI" pitchFamily="34" charset="-122"/>
                <a:cs typeface="Nirmala UI" pitchFamily="34" charset="-120"/>
              </a:rPr>
              <a:t>मधु, घृत, गैरिक, मज्जा, दुग्ध, गोमय रस, इक्षु रस, काकाण्ड रस, अजा रक्त</a:t>
            </a:r>
            <a:pPr algn="l" indent="0" marL="0">
              <a:lnSpc>
                <a:spcPct val="115000"/>
              </a:lnSpc>
              <a:buNone/>
            </a:pPr>
            <a:r>
              <a:rPr lang="en-US" sz="2100" dirty="0">
                <a:solidFill>
                  <a:srgbClr val="222222"/>
                </a:solidFill>
                <a:latin typeface="Nirmala UI" pitchFamily="34" charset="0"/>
                <a:ea typeface="Nirmala UI" pitchFamily="34" charset="-122"/>
                <a:cs typeface="Nirmala UI" pitchFamily="34" charset="-120"/>
              </a:rPr>
              <a:t> एवं अन्य जानवरों का रक्त, राख और मिट्टी पानी में मिला कर तुरंत ही रोगी को पिला कर संरक्षित किया जाना चाहिए।</a:t>
            </a:r>
            <a:endParaRPr lang="en-US" sz="2100" dirty="0"/>
          </a:p>
        </p:txBody>
      </p:sp>
      <p:pic>
        <p:nvPicPr>
          <p:cNvPr id="23" name="Image 8" descr="Honey">    </p:cNvPr>
          <p:cNvPicPr>
            <a:picLocks noChangeAspect="1"/>
          </p:cNvPicPr>
          <p:nvPr/>
        </p:nvPicPr>
        <p:blipFill>
          <a:blip r:embed="rId9"/>
          <a:stretch>
            <a:fillRect/>
          </a:stretch>
        </p:blipFill>
        <p:spPr>
          <a:xfrm>
            <a:off x="6675120" y="4492837"/>
            <a:ext cx="1325880" cy="1301327"/>
          </a:xfrm>
          <a:prstGeom prst="rect">
            <a:avLst/>
          </a:prstGeom>
        </p:spPr>
      </p:pic>
      <p:pic>
        <p:nvPicPr>
          <p:cNvPr id="12" name="Media 0">
            <a:hlinkClick r:id="" action="ppaction://media"/>
          </p:cNvPr>
          <p:cNvPicPr>
            <a:picLocks noChangeAspect="1"/>
          </p:cNvPicPr>
          <p:nvPr>
            <a:videoFile r:link="rId10"/>
            <p:extLst>
              <p:ext uri="{DAA4B4D4-6D71-4841-9C94-3DE7FCFB9230}">
                <p14:media xmlns:p14="http://schemas.microsoft.com/office/powerpoint/2010/main" r:embed="rId11"/>
              </p:ext>
            </p:extLst>
          </p:nvPr>
        </p:nvPicPr>
        <p:blipFill>
          <a:blip r:embed="rId12"/>
          <a:stretch>
            <a:fillRect/>
          </a:stretch>
        </p:blipFill>
        <p:spPr>
          <a:xfrm>
            <a:off x="8229600" y="4206240"/>
            <a:ext cx="685800" cy="1783080"/>
          </a:xfrm>
          <a:prstGeom prst="rect">
            <a:avLst/>
          </a:prstGeom>
        </p:spPr>
      </p:pic>
      <p:pic>
        <p:nvPicPr>
          <p:cNvPr id="25" name="Image 9" descr="Ghee">    </p:cNvPr>
          <p:cNvPicPr>
            <a:picLocks noChangeAspect="1"/>
          </p:cNvPicPr>
          <p:nvPr/>
        </p:nvPicPr>
        <p:blipFill>
          <a:blip r:embed="rId13"/>
          <a:stretch>
            <a:fillRect/>
          </a:stretch>
        </p:blipFill>
        <p:spPr>
          <a:xfrm>
            <a:off x="9098280" y="4524550"/>
            <a:ext cx="1600200" cy="1192181"/>
          </a:xfrm>
          <a:prstGeom prst="rect">
            <a:avLst/>
          </a:prstGeom>
        </p:spPr>
      </p:pic>
      <p:pic>
        <p:nvPicPr>
          <p:cNvPr id="26" name="Image 10" descr="Sugarcane">    </p:cNvPr>
          <p:cNvPicPr>
            <a:picLocks noChangeAspect="1"/>
          </p:cNvPicPr>
          <p:nvPr/>
        </p:nvPicPr>
        <p:blipFill>
          <a:blip r:embed="rId14"/>
          <a:stretch>
            <a:fillRect/>
          </a:stretch>
        </p:blipFill>
        <p:spPr>
          <a:xfrm>
            <a:off x="10835640" y="4322085"/>
            <a:ext cx="1005840" cy="159711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D4331"/>
        </a:solidFill>
      </p:bgPr>
    </p:bg>
    <p:spTree>
      <p:nvGrpSpPr>
        <p:cNvPr id="1" name=""/>
        <p:cNvGrpSpPr/>
        <p:nvPr/>
      </p:nvGrpSpPr>
      <p:grpSpPr>
        <a:xfrm>
          <a:off x="0" y="0"/>
          <a:ext cx="0" cy="0"/>
          <a:chOff x="0" y="0"/>
          <a:chExt cx="0" cy="0"/>
        </a:xfrm>
      </p:grpSpPr>
      <p:sp>
        <p:nvSpPr>
          <p:cNvPr id="2" name="Text 0"/>
          <p:cNvSpPr txBox="1"/>
          <p:nvPr/>
        </p:nvSpPr>
        <p:spPr>
          <a:xfrm>
            <a:off x="457200" y="228600"/>
            <a:ext cx="11274552" cy="685800"/>
          </a:xfrm>
          <a:prstGeom prst="rect">
            <a:avLst/>
          </a:prstGeom>
          <a:noFill/>
          <a:ln/>
        </p:spPr>
        <p:txBody>
          <a:bodyPr wrap="square" lIns="635" tIns="635" rIns="635" bIns="635"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According to Acharya Vagbhat</a:t>
            </a:r>
            <a:endParaRPr lang="en-US" sz="3400" dirty="0"/>
          </a:p>
        </p:txBody>
      </p:sp>
      <p:sp>
        <p:nvSpPr>
          <p:cNvPr id="3" name="Text 1"/>
          <p:cNvSpPr txBox="1"/>
          <p:nvPr/>
        </p:nvSpPr>
        <p:spPr>
          <a:xfrm>
            <a:off x="457200" y="914400"/>
            <a:ext cx="11274552" cy="457200"/>
          </a:xfrm>
          <a:prstGeom prst="rect">
            <a:avLst/>
          </a:prstGeom>
          <a:noFill/>
          <a:ln/>
        </p:spPr>
        <p:txBody>
          <a:bodyPr wrap="square" lIns="635" tIns="635" rIns="635" bIns="635" rtlCol="0" anchor="ctr"/>
          <a:lstStyle/>
          <a:p>
            <a:pPr algn="ctr" indent="0" marL="0">
              <a:buNone/>
            </a:pPr>
            <a:r>
              <a:rPr lang="en-US" sz="2000" dirty="0">
                <a:solidFill>
                  <a:srgbClr val="F7BB26"/>
                </a:solidFill>
                <a:latin typeface="Nirmala UI" pitchFamily="34" charset="0"/>
                <a:ea typeface="Nirmala UI" pitchFamily="34" charset="-122"/>
                <a:cs typeface="Nirmala UI" pitchFamily="34" charset="-120"/>
              </a:rPr>
              <a:t>अष्टाङ्गहृदय — उत्तरस्थान, विषप्रतिषेध</a:t>
            </a:r>
            <a:endParaRPr lang="en-US" sz="2000" dirty="0"/>
          </a:p>
        </p:txBody>
      </p:sp>
      <p:pic>
        <p:nvPicPr>
          <p:cNvPr id="4" name="Image 0" descr="Acharya Vagbhat meditating">    </p:cNvPr>
          <p:cNvPicPr>
            <a:picLocks noChangeAspect="1"/>
          </p:cNvPicPr>
          <p:nvPr/>
        </p:nvPicPr>
        <p:blipFill>
          <a:blip r:embed="rId1"/>
          <a:srcRect l="0" r="0" t="0" b="0"/>
          <a:stretch/>
        </p:blipFill>
        <p:spPr>
          <a:xfrm>
            <a:off x="502920" y="1645920"/>
            <a:ext cx="2514600" cy="4754880"/>
          </a:xfrm>
          <a:prstGeom prst="rect">
            <a:avLst/>
          </a:prstGeom>
        </p:spPr>
      </p:pic>
      <p:pic>
        <p:nvPicPr>
          <p:cNvPr id="5" name="Image 1" descr="/tmp/claude-0/-home-user-temp/7f25fba1-67f1-50aa-a5ca-20648b7772ad/scratchpad/build/img/image11.png">    </p:cNvPr>
          <p:cNvPicPr>
            <a:picLocks noChangeAspect="1"/>
          </p:cNvPicPr>
          <p:nvPr/>
        </p:nvPicPr>
        <p:blipFill>
          <a:blip r:embed="rId2"/>
          <a:stretch>
            <a:fillRect/>
          </a:stretch>
        </p:blipFill>
        <p:spPr>
          <a:xfrm>
            <a:off x="3337560" y="1600200"/>
            <a:ext cx="8412480" cy="2331720"/>
          </a:xfrm>
          <a:prstGeom prst="rect">
            <a:avLst/>
          </a:prstGeom>
        </p:spPr>
      </p:pic>
      <p:sp>
        <p:nvSpPr>
          <p:cNvPr id="6" name="Text 2"/>
          <p:cNvSpPr txBox="1"/>
          <p:nvPr/>
        </p:nvSpPr>
        <p:spPr>
          <a:xfrm>
            <a:off x="3749040" y="1783080"/>
            <a:ext cx="7589520" cy="1965960"/>
          </a:xfrm>
          <a:prstGeom prst="rect">
            <a:avLst/>
          </a:prstGeom>
          <a:noFill/>
          <a:ln/>
        </p:spPr>
        <p:txBody>
          <a:bodyPr wrap="square" lIns="635" tIns="635" rIns="635" bIns="635" rtlCol="0" anchor="ctr"/>
          <a:lstStyle/>
          <a:p>
            <a:pPr algn="ctr" indent="0" marL="0">
              <a:buNone/>
            </a:pPr>
            <a:r>
              <a:rPr lang="en-US" sz="2600" b="1" dirty="0">
                <a:solidFill>
                  <a:srgbClr val="C00A28"/>
                </a:solidFill>
                <a:latin typeface="Nirmala UI" pitchFamily="34" charset="0"/>
                <a:ea typeface="Nirmala UI" pitchFamily="34" charset="-122"/>
                <a:cs typeface="Nirmala UI" pitchFamily="34" charset="-120"/>
              </a:rPr>
              <a:t>कुर्यादमर्मविद्धस्य हृदयावरणं द्रुतम्।</a:t>
            </a:r>
            <a:endParaRPr lang="en-US" sz="2600" dirty="0"/>
          </a:p>
          <a:p>
            <a:pPr algn="ctr" indent="0" marL="0">
              <a:spcAft>
                <a:spcPts val="600"/>
              </a:spcAft>
              <a:buNone/>
            </a:pPr>
            <a:r>
              <a:rPr lang="en-US" sz="2600" b="1" dirty="0">
                <a:solidFill>
                  <a:srgbClr val="C00A28"/>
                </a:solidFill>
                <a:latin typeface="Nirmala UI" pitchFamily="34" charset="0"/>
                <a:ea typeface="Nirmala UI" pitchFamily="34" charset="-122"/>
                <a:cs typeface="Nirmala UI" pitchFamily="34" charset="-120"/>
              </a:rPr>
              <a:t>शल्यमाकृष्य तप्तेन लोहेनानु दहेद् व्रणम्॥</a:t>
            </a:r>
            <a:endParaRPr lang="en-US" sz="2600" dirty="0"/>
          </a:p>
          <a:p>
            <a:pPr algn="ctr" indent="0" marL="0">
              <a:buNone/>
            </a:pPr>
            <a:r>
              <a:rPr lang="en-US" sz="1800" b="1" dirty="0">
                <a:solidFill>
                  <a:srgbClr val="222222"/>
                </a:solidFill>
                <a:latin typeface="Nirmala UI" pitchFamily="34" charset="0"/>
                <a:ea typeface="Nirmala UI" pitchFamily="34" charset="-122"/>
                <a:cs typeface="Nirmala UI" pitchFamily="34" charset="-120"/>
              </a:rPr>
              <a:t>— अ.हृ. उ. 35/45</a:t>
            </a:r>
            <a:endParaRPr lang="en-US" sz="2600" dirty="0"/>
          </a:p>
        </p:txBody>
      </p:sp>
      <p:sp>
        <p:nvSpPr>
          <p:cNvPr id="7" name="Text 3"/>
          <p:cNvSpPr txBox="1"/>
          <p:nvPr/>
        </p:nvSpPr>
        <p:spPr>
          <a:xfrm>
            <a:off x="3429000" y="4114800"/>
            <a:ext cx="8229600" cy="411480"/>
          </a:xfrm>
          <a:prstGeom prst="rect">
            <a:avLst/>
          </a:prstGeom>
          <a:noFill/>
          <a:ln/>
        </p:spPr>
        <p:txBody>
          <a:bodyPr wrap="square" lIns="635" tIns="635" rIns="635" bIns="635" rtlCol="0" anchor="t"/>
          <a:lstStyle/>
          <a:p>
            <a:pPr indent="0" marL="0">
              <a:buNone/>
            </a:pPr>
            <a:r>
              <a:rPr lang="en-US" sz="2000" b="1" dirty="0">
                <a:solidFill>
                  <a:srgbClr val="FFDE59"/>
                </a:solidFill>
                <a:latin typeface="Nirmala UI" pitchFamily="34" charset="0"/>
                <a:ea typeface="Nirmala UI" pitchFamily="34" charset="-122"/>
                <a:cs typeface="Nirmala UI" pitchFamily="34" charset="-120"/>
              </a:rPr>
              <a:t>भावार्थ:</a:t>
            </a:r>
            <a:endParaRPr lang="en-US" sz="2000" dirty="0"/>
          </a:p>
        </p:txBody>
      </p:sp>
      <p:sp>
        <p:nvSpPr>
          <p:cNvPr id="8" name="Text 4"/>
          <p:cNvSpPr txBox="1"/>
          <p:nvPr/>
        </p:nvSpPr>
        <p:spPr>
          <a:xfrm>
            <a:off x="3429000" y="4526280"/>
            <a:ext cx="8229600" cy="1920240"/>
          </a:xfrm>
          <a:prstGeom prst="rect">
            <a:avLst/>
          </a:prstGeom>
          <a:noFill/>
          <a:ln/>
        </p:spPr>
        <p:txBody>
          <a:bodyPr wrap="square" lIns="635" tIns="635" rIns="635" bIns="635" rtlCol="0" anchor="t"/>
          <a:lstStyle/>
          <a:p>
            <a:pPr indent="0" marL="0">
              <a:lnSpc>
                <a:spcPct val="115000"/>
              </a:lnSpc>
              <a:buNone/>
            </a:pPr>
            <a:r>
              <a:rPr lang="en-US" sz="1900" dirty="0">
                <a:solidFill>
                  <a:srgbClr val="FFFFFF"/>
                </a:solidFill>
                <a:latin typeface="Nirmala UI" pitchFamily="34" charset="0"/>
                <a:ea typeface="Nirmala UI" pitchFamily="34" charset="-122"/>
                <a:cs typeface="Nirmala UI" pitchFamily="34" charset="-120"/>
              </a:rPr>
              <a:t>“यदि विष युक्त बाण शरीर के किसी मर्म (Vital Spot) पर न लगा हो, तो तुरंत हृदय की रक्षा करने वाली चिकित्सा (हृदयावरण) करनी चाहिए। इसके बाद शरीर में धंसे हुए बाण (शल्य) को बाहर खींचकर, उस घाव को गर्म लोहे की शलाका (रोड) से दाग (Cauterize) देना चाहिए।”</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D4331"/>
        </a:solidFill>
      </p:bgPr>
    </p:bg>
    <p:spTree>
      <p:nvGrpSpPr>
        <p:cNvPr id="1" name=""/>
        <p:cNvGrpSpPr/>
        <p:nvPr/>
      </p:nvGrpSpPr>
      <p:grpSpPr>
        <a:xfrm>
          <a:off x="0" y="0"/>
          <a:ext cx="0" cy="0"/>
          <a:chOff x="0" y="0"/>
          <a:chExt cx="0" cy="0"/>
        </a:xfrm>
      </p:grpSpPr>
      <p:sp>
        <p:nvSpPr>
          <p:cNvPr id="2" name="Text 0"/>
          <p:cNvSpPr txBox="1"/>
          <p:nvPr/>
        </p:nvSpPr>
        <p:spPr>
          <a:xfrm>
            <a:off x="457200" y="182880"/>
            <a:ext cx="11274552" cy="640080"/>
          </a:xfrm>
          <a:prstGeom prst="rect">
            <a:avLst/>
          </a:prstGeom>
          <a:noFill/>
          <a:ln/>
        </p:spPr>
        <p:txBody>
          <a:bodyPr wrap="square" lIns="635" tIns="635" rIns="635" bIns="635"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According to Acharya Vagbhat (Ashtanga Sangraha)</a:t>
            </a:r>
            <a:endParaRPr lang="en-US" sz="3000" dirty="0"/>
          </a:p>
        </p:txBody>
      </p:sp>
      <p:pic>
        <p:nvPicPr>
          <p:cNvPr id="3" name="Image 0" descr="/tmp/claude-0/-home-user-temp/7f25fba1-67f1-50aa-a5ca-20648b7772ad/scratchpad/build/img/image11.png">    </p:cNvPr>
          <p:cNvPicPr>
            <a:picLocks noChangeAspect="1"/>
          </p:cNvPicPr>
          <p:nvPr/>
        </p:nvPicPr>
        <p:blipFill>
          <a:blip r:embed="rId1"/>
          <a:stretch>
            <a:fillRect/>
          </a:stretch>
        </p:blipFill>
        <p:spPr>
          <a:xfrm>
            <a:off x="182880" y="868680"/>
            <a:ext cx="11823192" cy="5852160"/>
          </a:xfrm>
          <a:prstGeom prst="rect">
            <a:avLst/>
          </a:prstGeom>
        </p:spPr>
      </p:pic>
      <p:sp>
        <p:nvSpPr>
          <p:cNvPr id="4" name="Text 1"/>
          <p:cNvSpPr txBox="1"/>
          <p:nvPr/>
        </p:nvSpPr>
        <p:spPr>
          <a:xfrm>
            <a:off x="914400" y="1188720"/>
            <a:ext cx="10360152" cy="1325880"/>
          </a:xfrm>
          <a:prstGeom prst="rect">
            <a:avLst/>
          </a:prstGeom>
          <a:noFill/>
          <a:ln/>
        </p:spPr>
        <p:txBody>
          <a:bodyPr wrap="square" lIns="635" tIns="635" rIns="635" bIns="635" rtlCol="0" anchor="ctr"/>
          <a:lstStyle/>
          <a:p>
            <a:pPr algn="ctr" indent="0" marL="0">
              <a:buNone/>
            </a:pPr>
            <a:r>
              <a:rPr lang="en-US" sz="2100" b="1" dirty="0">
                <a:solidFill>
                  <a:srgbClr val="C00A28"/>
                </a:solidFill>
                <a:latin typeface="Nirmala UI" pitchFamily="34" charset="0"/>
                <a:ea typeface="Nirmala UI" pitchFamily="34" charset="-122"/>
                <a:cs typeface="Nirmala UI" pitchFamily="34" charset="-120"/>
              </a:rPr>
              <a:t>विषं कर्षति तीक्ष्णत्वात् हृदयं तस्य गुप्तये ।।</a:t>
            </a:r>
            <a:endParaRPr lang="en-US" sz="2100" dirty="0"/>
          </a:p>
          <a:p>
            <a:pPr algn="ctr" indent="0" marL="0">
              <a:buNone/>
            </a:pPr>
            <a:r>
              <a:rPr lang="en-US" sz="2100" b="1" dirty="0">
                <a:solidFill>
                  <a:srgbClr val="C00A28"/>
                </a:solidFill>
                <a:latin typeface="Nirmala UI" pitchFamily="34" charset="0"/>
                <a:ea typeface="Nirmala UI" pitchFamily="34" charset="-122"/>
                <a:cs typeface="Nirmala UI" pitchFamily="34" charset="-120"/>
              </a:rPr>
              <a:t>पिबेद्धतं घृतक्षौद्रमगदं वा घूघृताप्लुतम् ।</a:t>
            </a:r>
            <a:endParaRPr lang="en-US" sz="2100" dirty="0"/>
          </a:p>
          <a:p>
            <a:pPr algn="ctr" indent="0" marL="0">
              <a:buNone/>
            </a:pPr>
            <a:r>
              <a:rPr lang="en-US" sz="2100" b="1" dirty="0">
                <a:solidFill>
                  <a:srgbClr val="C00A28"/>
                </a:solidFill>
                <a:latin typeface="Nirmala UI" pitchFamily="34" charset="0"/>
                <a:ea typeface="Nirmala UI" pitchFamily="34" charset="-122"/>
                <a:cs typeface="Nirmala UI" pitchFamily="34" charset="-120"/>
              </a:rPr>
              <a:t>मज्जाने गोमयरर्स भस्माम्भः कृष्णमृज्जलम् ॥  </a:t>
            </a:r>
            <a:pPr algn="ctr" indent="0" marL="0">
              <a:buNone/>
            </a:pPr>
            <a:r>
              <a:rPr lang="en-US" sz="1600" b="1" dirty="0">
                <a:solidFill>
                  <a:srgbClr val="222222"/>
                </a:solidFill>
                <a:latin typeface="Nirmala UI" pitchFamily="34" charset="0"/>
                <a:ea typeface="Nirmala UI" pitchFamily="34" charset="-122"/>
                <a:cs typeface="Nirmala UI" pitchFamily="34" charset="-120"/>
              </a:rPr>
              <a:t>(अ.से.उ. 42/15)</a:t>
            </a:r>
            <a:endParaRPr lang="en-US" sz="2100" dirty="0"/>
          </a:p>
        </p:txBody>
      </p:sp>
      <p:sp>
        <p:nvSpPr>
          <p:cNvPr id="5" name="Shape 2"/>
          <p:cNvSpPr/>
          <p:nvPr/>
        </p:nvSpPr>
        <p:spPr>
          <a:xfrm>
            <a:off x="3108960" y="2651760"/>
            <a:ext cx="5971032" cy="420624"/>
          </a:xfrm>
          <a:prstGeom prst="roundRect">
            <a:avLst>
              <a:gd name="adj" fmla="val 17391"/>
            </a:avLst>
          </a:prstGeom>
          <a:solidFill>
            <a:srgbClr val="FFFFFF">
              <a:alpha val="65000"/>
            </a:srgbClr>
          </a:solidFill>
          <a:ln w="9525">
            <a:solidFill>
              <a:srgbClr val="B9AE90"/>
            </a:solidFill>
            <a:prstDash val="solid"/>
          </a:ln>
        </p:spPr>
      </p:sp>
      <p:sp>
        <p:nvSpPr>
          <p:cNvPr id="6" name="Text 3"/>
          <p:cNvSpPr txBox="1"/>
          <p:nvPr/>
        </p:nvSpPr>
        <p:spPr>
          <a:xfrm>
            <a:off x="3108960" y="2651760"/>
            <a:ext cx="5971032" cy="420624"/>
          </a:xfrm>
          <a:prstGeom prst="rect">
            <a:avLst/>
          </a:prstGeom>
          <a:noFill/>
          <a:ln/>
        </p:spPr>
        <p:txBody>
          <a:bodyPr wrap="square" lIns="635" tIns="635" rIns="635" bIns="635" rtlCol="0" anchor="ctr"/>
          <a:lstStyle/>
          <a:p>
            <a:pPr algn="ctr" indent="0" marL="0">
              <a:buNone/>
            </a:pPr>
            <a:r>
              <a:rPr lang="en-US" sz="1800" dirty="0">
                <a:solidFill>
                  <a:srgbClr val="222222"/>
                </a:solidFill>
                <a:latin typeface="Nirmala UI" pitchFamily="34" charset="0"/>
                <a:ea typeface="Nirmala UI" pitchFamily="34" charset="-122"/>
                <a:cs typeface="Nirmala UI" pitchFamily="34" charset="-120"/>
              </a:rPr>
              <a:t>विष का तीक्ष्ण गुण</a:t>
            </a:r>
            <a:endParaRPr lang="en-US" sz="1800" dirty="0"/>
          </a:p>
        </p:txBody>
      </p:sp>
      <p:sp>
        <p:nvSpPr>
          <p:cNvPr id="7" name="Shape 4"/>
          <p:cNvSpPr/>
          <p:nvPr/>
        </p:nvSpPr>
        <p:spPr>
          <a:xfrm>
            <a:off x="5993892" y="3099816"/>
            <a:ext cx="201168" cy="164592"/>
          </a:xfrm>
          <a:prstGeom prst="downArrow">
            <a:avLst/>
          </a:prstGeom>
          <a:solidFill>
            <a:srgbClr val="3D4331"/>
          </a:solidFill>
          <a:ln w="12700">
            <a:solidFill>
              <a:srgbClr val="3D4331"/>
            </a:solidFill>
            <a:prstDash val="solid"/>
          </a:ln>
        </p:spPr>
      </p:sp>
      <p:sp>
        <p:nvSpPr>
          <p:cNvPr id="8" name="Shape 5"/>
          <p:cNvSpPr/>
          <p:nvPr/>
        </p:nvSpPr>
        <p:spPr>
          <a:xfrm>
            <a:off x="3108960" y="3291840"/>
            <a:ext cx="5971032" cy="420624"/>
          </a:xfrm>
          <a:prstGeom prst="roundRect">
            <a:avLst>
              <a:gd name="adj" fmla="val 17391"/>
            </a:avLst>
          </a:prstGeom>
          <a:solidFill>
            <a:srgbClr val="FFFFFF">
              <a:alpha val="65000"/>
            </a:srgbClr>
          </a:solidFill>
          <a:ln w="9525">
            <a:solidFill>
              <a:srgbClr val="B9AE90"/>
            </a:solidFill>
            <a:prstDash val="solid"/>
          </a:ln>
        </p:spPr>
      </p:sp>
      <p:sp>
        <p:nvSpPr>
          <p:cNvPr id="9" name="Text 6"/>
          <p:cNvSpPr txBox="1"/>
          <p:nvPr/>
        </p:nvSpPr>
        <p:spPr>
          <a:xfrm>
            <a:off x="3108960" y="3291840"/>
            <a:ext cx="5971032" cy="420624"/>
          </a:xfrm>
          <a:prstGeom prst="rect">
            <a:avLst/>
          </a:prstGeom>
          <a:noFill/>
          <a:ln/>
        </p:spPr>
        <p:txBody>
          <a:bodyPr wrap="square" lIns="635" tIns="635" rIns="635" bIns="635" rtlCol="0" anchor="ctr"/>
          <a:lstStyle/>
          <a:p>
            <a:pPr algn="ctr" indent="0" marL="0">
              <a:buNone/>
            </a:pPr>
            <a:r>
              <a:rPr lang="en-US" sz="1800" dirty="0">
                <a:solidFill>
                  <a:srgbClr val="222222"/>
                </a:solidFill>
                <a:latin typeface="Nirmala UI" pitchFamily="34" charset="0"/>
                <a:ea typeface="Nirmala UI" pitchFamily="34" charset="-122"/>
                <a:cs typeface="Nirmala UI" pitchFamily="34" charset="-120"/>
              </a:rPr>
              <a:t>हृदय का कर्षण</a:t>
            </a:r>
            <a:endParaRPr lang="en-US" sz="1800" dirty="0"/>
          </a:p>
        </p:txBody>
      </p:sp>
      <p:sp>
        <p:nvSpPr>
          <p:cNvPr id="10" name="Shape 7"/>
          <p:cNvSpPr/>
          <p:nvPr/>
        </p:nvSpPr>
        <p:spPr>
          <a:xfrm>
            <a:off x="5993892" y="3739896"/>
            <a:ext cx="201168" cy="164592"/>
          </a:xfrm>
          <a:prstGeom prst="downArrow">
            <a:avLst/>
          </a:prstGeom>
          <a:solidFill>
            <a:srgbClr val="3D4331"/>
          </a:solidFill>
          <a:ln w="12700">
            <a:solidFill>
              <a:srgbClr val="3D4331"/>
            </a:solidFill>
            <a:prstDash val="solid"/>
          </a:ln>
        </p:spPr>
      </p:sp>
      <p:sp>
        <p:nvSpPr>
          <p:cNvPr id="11" name="Shape 8"/>
          <p:cNvSpPr/>
          <p:nvPr/>
        </p:nvSpPr>
        <p:spPr>
          <a:xfrm>
            <a:off x="3108960" y="3931920"/>
            <a:ext cx="5971032" cy="420624"/>
          </a:xfrm>
          <a:prstGeom prst="roundRect">
            <a:avLst>
              <a:gd name="adj" fmla="val 17391"/>
            </a:avLst>
          </a:prstGeom>
          <a:solidFill>
            <a:srgbClr val="FFFFFF">
              <a:alpha val="65000"/>
            </a:srgbClr>
          </a:solidFill>
          <a:ln w="9525">
            <a:solidFill>
              <a:srgbClr val="B9AE90"/>
            </a:solidFill>
            <a:prstDash val="solid"/>
          </a:ln>
        </p:spPr>
      </p:sp>
      <p:sp>
        <p:nvSpPr>
          <p:cNvPr id="12" name="Text 9"/>
          <p:cNvSpPr txBox="1"/>
          <p:nvPr/>
        </p:nvSpPr>
        <p:spPr>
          <a:xfrm>
            <a:off x="3108960" y="3931920"/>
            <a:ext cx="5971032" cy="420624"/>
          </a:xfrm>
          <a:prstGeom prst="rect">
            <a:avLst/>
          </a:prstGeom>
          <a:noFill/>
          <a:ln/>
        </p:spPr>
        <p:txBody>
          <a:bodyPr wrap="square" lIns="635" tIns="635" rIns="635" bIns="635" rtlCol="0" anchor="ctr"/>
          <a:lstStyle/>
          <a:p>
            <a:pPr algn="ctr" indent="0" marL="0">
              <a:buNone/>
            </a:pPr>
            <a:r>
              <a:rPr lang="en-US" sz="1800" dirty="0">
                <a:solidFill>
                  <a:srgbClr val="222222"/>
                </a:solidFill>
                <a:latin typeface="Nirmala UI" pitchFamily="34" charset="0"/>
                <a:ea typeface="Nirmala UI" pitchFamily="34" charset="-122"/>
                <a:cs typeface="Nirmala UI" pitchFamily="34" charset="-120"/>
              </a:rPr>
              <a:t>विष के प्रभाव से हृदय को हानि की आशंका</a:t>
            </a:r>
            <a:endParaRPr lang="en-US" sz="1800" dirty="0"/>
          </a:p>
        </p:txBody>
      </p:sp>
      <p:sp>
        <p:nvSpPr>
          <p:cNvPr id="13" name="Shape 10"/>
          <p:cNvSpPr/>
          <p:nvPr/>
        </p:nvSpPr>
        <p:spPr>
          <a:xfrm>
            <a:off x="5993892" y="4379976"/>
            <a:ext cx="201168" cy="164592"/>
          </a:xfrm>
          <a:prstGeom prst="downArrow">
            <a:avLst/>
          </a:prstGeom>
          <a:solidFill>
            <a:srgbClr val="3D4331"/>
          </a:solidFill>
          <a:ln w="12700">
            <a:solidFill>
              <a:srgbClr val="3D4331"/>
            </a:solidFill>
            <a:prstDash val="solid"/>
          </a:ln>
        </p:spPr>
      </p:sp>
      <p:sp>
        <p:nvSpPr>
          <p:cNvPr id="14" name="Shape 11"/>
          <p:cNvSpPr/>
          <p:nvPr/>
        </p:nvSpPr>
        <p:spPr>
          <a:xfrm>
            <a:off x="3108960" y="4572000"/>
            <a:ext cx="5971032" cy="420624"/>
          </a:xfrm>
          <a:prstGeom prst="roundRect">
            <a:avLst>
              <a:gd name="adj" fmla="val 17391"/>
            </a:avLst>
          </a:prstGeom>
          <a:solidFill>
            <a:srgbClr val="FFFFFF">
              <a:alpha val="65000"/>
            </a:srgbClr>
          </a:solidFill>
          <a:ln w="9525">
            <a:solidFill>
              <a:srgbClr val="B9AE90"/>
            </a:solidFill>
            <a:prstDash val="solid"/>
          </a:ln>
        </p:spPr>
      </p:sp>
      <p:sp>
        <p:nvSpPr>
          <p:cNvPr id="15" name="Text 12"/>
          <p:cNvSpPr txBox="1"/>
          <p:nvPr/>
        </p:nvSpPr>
        <p:spPr>
          <a:xfrm>
            <a:off x="3108960" y="4572000"/>
            <a:ext cx="5971032" cy="420624"/>
          </a:xfrm>
          <a:prstGeom prst="rect">
            <a:avLst/>
          </a:prstGeom>
          <a:noFill/>
          <a:ln/>
        </p:spPr>
        <p:txBody>
          <a:bodyPr wrap="square" lIns="635" tIns="635" rIns="635" bIns="635" rtlCol="0" anchor="ctr"/>
          <a:lstStyle/>
          <a:p>
            <a:pPr algn="ctr" indent="0" marL="0">
              <a:buNone/>
            </a:pPr>
            <a:r>
              <a:rPr lang="en-US" sz="1800" b="1" dirty="0">
                <a:solidFill>
                  <a:srgbClr val="222222"/>
                </a:solidFill>
                <a:latin typeface="Nirmala UI" pitchFamily="34" charset="0"/>
                <a:ea typeface="Nirmala UI" pitchFamily="34" charset="-122"/>
                <a:cs typeface="Nirmala UI" pitchFamily="34" charset="-120"/>
              </a:rPr>
              <a:t>हृदय की रक्षा हेतु वर्णित उपाय</a:t>
            </a:r>
            <a:endParaRPr lang="en-US" sz="1800" dirty="0"/>
          </a:p>
        </p:txBody>
      </p:sp>
      <p:sp>
        <p:nvSpPr>
          <p:cNvPr id="16" name="Shape 13"/>
          <p:cNvSpPr/>
          <p:nvPr/>
        </p:nvSpPr>
        <p:spPr>
          <a:xfrm>
            <a:off x="5993892" y="5020056"/>
            <a:ext cx="201168" cy="164592"/>
          </a:xfrm>
          <a:prstGeom prst="downArrow">
            <a:avLst/>
          </a:prstGeom>
          <a:solidFill>
            <a:srgbClr val="3D4331"/>
          </a:solidFill>
          <a:ln w="12700">
            <a:solidFill>
              <a:srgbClr val="3D4331"/>
            </a:solidFill>
            <a:prstDash val="solid"/>
          </a:ln>
        </p:spPr>
      </p:sp>
      <p:sp>
        <p:nvSpPr>
          <p:cNvPr id="17" name="Shape 14"/>
          <p:cNvSpPr/>
          <p:nvPr/>
        </p:nvSpPr>
        <p:spPr>
          <a:xfrm>
            <a:off x="3566160" y="5212080"/>
            <a:ext cx="5056632" cy="1325880"/>
          </a:xfrm>
          <a:prstGeom prst="roundRect">
            <a:avLst>
              <a:gd name="adj" fmla="val 6897"/>
            </a:avLst>
          </a:prstGeom>
          <a:solidFill>
            <a:srgbClr val="FFD54F"/>
          </a:solidFill>
          <a:ln w="15875">
            <a:solidFill>
              <a:srgbClr val="2B2B2B"/>
            </a:solidFill>
            <a:prstDash val="solid"/>
          </a:ln>
        </p:spPr>
      </p:sp>
      <p:sp>
        <p:nvSpPr>
          <p:cNvPr id="18" name="Text 15"/>
          <p:cNvSpPr txBox="1"/>
          <p:nvPr/>
        </p:nvSpPr>
        <p:spPr>
          <a:xfrm>
            <a:off x="3566160" y="5257800"/>
            <a:ext cx="5056632" cy="1234440"/>
          </a:xfrm>
          <a:prstGeom prst="rect">
            <a:avLst/>
          </a:prstGeom>
          <a:noFill/>
          <a:ln/>
        </p:spPr>
        <p:txBody>
          <a:bodyPr wrap="square" lIns="635" tIns="635" rIns="635" bIns="635" rtlCol="0" anchor="ctr"/>
          <a:lstStyle/>
          <a:p>
            <a:pPr algn="ctr" indent="0" marL="0">
              <a:buNone/>
            </a:pPr>
            <a:r>
              <a:rPr lang="en-US" sz="1700" dirty="0">
                <a:solidFill>
                  <a:srgbClr val="222222"/>
                </a:solidFill>
                <a:latin typeface="Nirmala UI" pitchFamily="34" charset="0"/>
                <a:ea typeface="Nirmala UI" pitchFamily="34" charset="-122"/>
                <a:cs typeface="Nirmala UI" pitchFamily="34" charset="-120"/>
              </a:rPr>
              <a:t>घृत एवं मधु, घृतयुक्त अगद</a:t>
            </a:r>
            <a:endParaRPr lang="en-US" sz="1700" dirty="0"/>
          </a:p>
          <a:p>
            <a:pPr algn="ctr" indent="0" marL="0">
              <a:buNone/>
            </a:pPr>
            <a:r>
              <a:rPr lang="en-US" sz="1700" dirty="0">
                <a:solidFill>
                  <a:srgbClr val="222222"/>
                </a:solidFill>
                <a:latin typeface="Nirmala UI" pitchFamily="34" charset="0"/>
                <a:ea typeface="Nirmala UI" pitchFamily="34" charset="-122"/>
                <a:cs typeface="Nirmala UI" pitchFamily="34" charset="-120"/>
              </a:rPr>
              <a:t>प्राणी की मज्जा</a:t>
            </a:r>
            <a:endParaRPr lang="en-US" sz="1700" dirty="0"/>
          </a:p>
          <a:p>
            <a:pPr algn="ctr" indent="0" marL="0">
              <a:buNone/>
            </a:pPr>
            <a:r>
              <a:rPr lang="en-US" sz="1700" dirty="0">
                <a:solidFill>
                  <a:srgbClr val="222222"/>
                </a:solidFill>
                <a:latin typeface="Nirmala UI" pitchFamily="34" charset="0"/>
                <a:ea typeface="Nirmala UI" pitchFamily="34" charset="-122"/>
                <a:cs typeface="Nirmala UI" pitchFamily="34" charset="-120"/>
              </a:rPr>
              <a:t>गोमय स्वरस, भस्म का पानी</a:t>
            </a:r>
            <a:endParaRPr lang="en-US" sz="1700" dirty="0"/>
          </a:p>
          <a:p>
            <a:pPr algn="ctr" indent="0" marL="0">
              <a:buNone/>
            </a:pPr>
            <a:r>
              <a:rPr lang="en-US" sz="1700" dirty="0">
                <a:solidFill>
                  <a:srgbClr val="222222"/>
                </a:solidFill>
                <a:latin typeface="Nirmala UI" pitchFamily="34" charset="0"/>
                <a:ea typeface="Nirmala UI" pitchFamily="34" charset="-122"/>
                <a:cs typeface="Nirmala UI" pitchFamily="34" charset="-120"/>
              </a:rPr>
              <a:t>काली मिट्टी का पानी</a:t>
            </a:r>
            <a:endParaRPr lang="en-US" sz="1700" dirty="0"/>
          </a:p>
        </p:txBody>
      </p:sp>
      <p:pic>
        <p:nvPicPr>
          <p:cNvPr id="19" name="Image 1" descr="Ghee">    </p:cNvPr>
          <p:cNvPicPr>
            <a:picLocks noChangeAspect="1"/>
          </p:cNvPicPr>
          <p:nvPr/>
        </p:nvPicPr>
        <p:blipFill>
          <a:blip r:embed="rId2"/>
          <a:srcRect l="0" r="0" t="0" b="0"/>
          <a:stretch/>
        </p:blipFill>
        <p:spPr>
          <a:xfrm>
            <a:off x="685800" y="2697480"/>
            <a:ext cx="1828800" cy="1691640"/>
          </a:xfrm>
          <a:prstGeom prst="rect">
            <a:avLst/>
          </a:prstGeom>
        </p:spPr>
      </p:pic>
      <p:pic>
        <p:nvPicPr>
          <p:cNvPr id="20" name="Image 2" descr="Honey">    </p:cNvPr>
          <p:cNvPicPr>
            <a:picLocks noChangeAspect="1"/>
          </p:cNvPicPr>
          <p:nvPr/>
        </p:nvPicPr>
        <p:blipFill>
          <a:blip r:embed="rId3"/>
          <a:srcRect l="0" r="0" t="0" b="0"/>
          <a:stretch/>
        </p:blipFill>
        <p:spPr>
          <a:xfrm>
            <a:off x="685800" y="4663440"/>
            <a:ext cx="1828800" cy="1691640"/>
          </a:xfrm>
          <a:prstGeom prst="rect">
            <a:avLst/>
          </a:prstGeom>
        </p:spPr>
      </p:pic>
      <p:pic>
        <p:nvPicPr>
          <p:cNvPr id="21" name="Image 3" descr="Cow dung">    </p:cNvPr>
          <p:cNvPicPr>
            <a:picLocks noChangeAspect="1"/>
          </p:cNvPicPr>
          <p:nvPr/>
        </p:nvPicPr>
        <p:blipFill>
          <a:blip r:embed="rId4"/>
          <a:srcRect l="0" r="0" t="0" b="0"/>
          <a:stretch/>
        </p:blipFill>
        <p:spPr>
          <a:xfrm>
            <a:off x="9692640" y="2697480"/>
            <a:ext cx="1828800" cy="1691640"/>
          </a:xfrm>
          <a:prstGeom prst="rect">
            <a:avLst/>
          </a:prstGeom>
        </p:spPr>
      </p:pic>
      <p:pic>
        <p:nvPicPr>
          <p:cNvPr id="22" name="Image 4" descr="Black soil">    </p:cNvPr>
          <p:cNvPicPr>
            <a:picLocks noChangeAspect="1"/>
          </p:cNvPicPr>
          <p:nvPr/>
        </p:nvPicPr>
        <p:blipFill>
          <a:blip r:embed="rId5"/>
          <a:srcRect l="0" r="0" t="0" b="0"/>
          <a:stretch/>
        </p:blipFill>
        <p:spPr>
          <a:xfrm>
            <a:off x="9692640" y="4663440"/>
            <a:ext cx="1828800" cy="1691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D4331"/>
        </a:solidFill>
      </p:bgPr>
    </p:bg>
    <p:spTree>
      <p:nvGrpSpPr>
        <p:cNvPr id="1" name=""/>
        <p:cNvGrpSpPr/>
        <p:nvPr/>
      </p:nvGrpSpPr>
      <p:grpSpPr>
        <a:xfrm>
          <a:off x="0" y="0"/>
          <a:ext cx="0" cy="0"/>
          <a:chOff x="0" y="0"/>
          <a:chExt cx="0" cy="0"/>
        </a:xfrm>
      </p:grpSpPr>
      <p:sp>
        <p:nvSpPr>
          <p:cNvPr id="2" name="Text 0"/>
          <p:cNvSpPr txBox="1"/>
          <p:nvPr/>
        </p:nvSpPr>
        <p:spPr>
          <a:xfrm>
            <a:off x="457200" y="228600"/>
            <a:ext cx="11274552" cy="685800"/>
          </a:xfrm>
          <a:prstGeom prst="rect">
            <a:avLst/>
          </a:prstGeom>
          <a:noFill/>
          <a:ln/>
        </p:spPr>
        <p:txBody>
          <a:bodyPr wrap="square" lIns="635" tIns="635" rIns="635" bIns="635"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According to Acharya Sushruta</a:t>
            </a:r>
            <a:endParaRPr lang="en-US" sz="3400" dirty="0"/>
          </a:p>
        </p:txBody>
      </p:sp>
      <p:sp>
        <p:nvSpPr>
          <p:cNvPr id="3" name="Text 1"/>
          <p:cNvSpPr txBox="1"/>
          <p:nvPr/>
        </p:nvSpPr>
        <p:spPr>
          <a:xfrm>
            <a:off x="457200" y="914400"/>
            <a:ext cx="11274552" cy="457200"/>
          </a:xfrm>
          <a:prstGeom prst="rect">
            <a:avLst/>
          </a:prstGeom>
          <a:noFill/>
          <a:ln/>
        </p:spPr>
        <p:txBody>
          <a:bodyPr wrap="square" lIns="635" tIns="635" rIns="635" bIns="635" rtlCol="0" anchor="ctr"/>
          <a:lstStyle/>
          <a:p>
            <a:pPr algn="ctr" indent="0" marL="0">
              <a:buNone/>
            </a:pPr>
            <a:r>
              <a:rPr lang="en-US" sz="2000" dirty="0">
                <a:solidFill>
                  <a:srgbClr val="FFDE59"/>
                </a:solidFill>
                <a:latin typeface="Nirmala UI" pitchFamily="34" charset="0"/>
                <a:ea typeface="Nirmala UI" pitchFamily="34" charset="-122"/>
                <a:cs typeface="Nirmala UI" pitchFamily="34" charset="-120"/>
              </a:rPr>
              <a:t>सुश्रुत संहिता — कल्पस्थान, अन्नपानरक्षाकल्प</a:t>
            </a:r>
            <a:endParaRPr lang="en-US" sz="2000" dirty="0"/>
          </a:p>
        </p:txBody>
      </p:sp>
      <p:pic>
        <p:nvPicPr>
          <p:cNvPr id="4" name="Image 0" descr="/tmp/claude-0/-home-user-temp/7f25fba1-67f1-50aa-a5ca-20648b7772ad/scratchpad/build/img/image11.png">    </p:cNvPr>
          <p:cNvPicPr>
            <a:picLocks noChangeAspect="1"/>
          </p:cNvPicPr>
          <p:nvPr/>
        </p:nvPicPr>
        <p:blipFill>
          <a:blip r:embed="rId1"/>
          <a:stretch>
            <a:fillRect/>
          </a:stretch>
        </p:blipFill>
        <p:spPr>
          <a:xfrm>
            <a:off x="1828800" y="1600200"/>
            <a:ext cx="9692640" cy="4846320"/>
          </a:xfrm>
          <a:prstGeom prst="rect">
            <a:avLst/>
          </a:prstGeom>
        </p:spPr>
      </p:pic>
      <p:sp>
        <p:nvSpPr>
          <p:cNvPr id="5" name="Text 2"/>
          <p:cNvSpPr txBox="1"/>
          <p:nvPr/>
        </p:nvSpPr>
        <p:spPr>
          <a:xfrm>
            <a:off x="3291840" y="2057400"/>
            <a:ext cx="7680960" cy="594360"/>
          </a:xfrm>
          <a:prstGeom prst="rect">
            <a:avLst/>
          </a:prstGeom>
          <a:noFill/>
          <a:ln/>
        </p:spPr>
        <p:txBody>
          <a:bodyPr wrap="square" lIns="635" tIns="635" rIns="635" bIns="635" rtlCol="0" anchor="ctr"/>
          <a:lstStyle/>
          <a:p>
            <a:pPr algn="ctr" indent="0" marL="0">
              <a:buNone/>
            </a:pPr>
            <a:r>
              <a:rPr lang="en-US" sz="2400" b="1" dirty="0">
                <a:solidFill>
                  <a:srgbClr val="222222"/>
                </a:solidFill>
                <a:latin typeface="Nirmala UI" pitchFamily="34" charset="0"/>
                <a:ea typeface="Nirmala UI" pitchFamily="34" charset="-122"/>
                <a:cs typeface="Nirmala UI" pitchFamily="34" charset="-120"/>
              </a:rPr>
              <a:t>विष के दुष्प्रभाव से हृदय की रक्षा का सिद्धांत</a:t>
            </a:r>
            <a:endParaRPr lang="en-US" sz="2400" dirty="0"/>
          </a:p>
        </p:txBody>
      </p:sp>
      <p:sp>
        <p:nvSpPr>
          <p:cNvPr id="6" name="Text 3"/>
          <p:cNvSpPr txBox="1"/>
          <p:nvPr/>
        </p:nvSpPr>
        <p:spPr>
          <a:xfrm>
            <a:off x="3291840" y="2834640"/>
            <a:ext cx="7680960" cy="2926080"/>
          </a:xfrm>
          <a:prstGeom prst="rect">
            <a:avLst/>
          </a:prstGeom>
          <a:noFill/>
          <a:ln/>
        </p:spPr>
        <p:txBody>
          <a:bodyPr wrap="square" lIns="635" tIns="635" rIns="635" bIns="635" rtlCol="0" anchor="ctr"/>
          <a:lstStyle/>
          <a:p>
            <a:pPr algn="ctr" indent="0" marL="0">
              <a:lnSpc>
                <a:spcPct val="115000"/>
              </a:lnSpc>
              <a:buNone/>
            </a:pPr>
            <a:r>
              <a:rPr lang="en-US" sz="3000" b="1" dirty="0">
                <a:solidFill>
                  <a:srgbClr val="C00A28"/>
                </a:solidFill>
                <a:latin typeface="Nirmala UI" pitchFamily="34" charset="0"/>
                <a:ea typeface="Nirmala UI" pitchFamily="34" charset="-122"/>
                <a:cs typeface="Nirmala UI" pitchFamily="34" charset="-120"/>
              </a:rPr>
              <a:t>करोति निर्विषं सर्वमन्नं विषसमायुतम्।</a:t>
            </a:r>
            <a:endParaRPr lang="en-US" sz="3000" dirty="0"/>
          </a:p>
          <a:p>
            <a:pPr algn="ctr" indent="0" marL="0">
              <a:lnSpc>
                <a:spcPct val="115000"/>
              </a:lnSpc>
              <a:spcAft>
                <a:spcPts val="1200"/>
              </a:spcAft>
              <a:buNone/>
            </a:pPr>
            <a:r>
              <a:rPr lang="en-US" sz="3000" b="1" dirty="0">
                <a:solidFill>
                  <a:srgbClr val="C00A28"/>
                </a:solidFill>
                <a:latin typeface="Nirmala UI" pitchFamily="34" charset="0"/>
                <a:ea typeface="Nirmala UI" pitchFamily="34" charset="-122"/>
                <a:cs typeface="Nirmala UI" pitchFamily="34" charset="-120"/>
              </a:rPr>
              <a:t>हृदयावरणं नित्यं कुर्याच्च मित्रमध्यगः ॥</a:t>
            </a:r>
            <a:endParaRPr lang="en-US" sz="3000" dirty="0"/>
          </a:p>
          <a:p>
            <a:pPr algn="ctr" indent="0" marL="0">
              <a:lnSpc>
                <a:spcPct val="115000"/>
              </a:lnSpc>
              <a:buNone/>
            </a:pPr>
            <a:r>
              <a:rPr lang="en-US" sz="2000" b="1" dirty="0">
                <a:solidFill>
                  <a:srgbClr val="222222"/>
                </a:solidFill>
                <a:latin typeface="Nirmala UI" pitchFamily="34" charset="0"/>
                <a:ea typeface="Nirmala UI" pitchFamily="34" charset="-122"/>
                <a:cs typeface="Nirmala UI" pitchFamily="34" charset="-120"/>
              </a:rPr>
              <a:t>— सु. क. 1/79</a:t>
            </a:r>
            <a:endParaRPr lang="en-US" sz="3000" dirty="0"/>
          </a:p>
        </p:txBody>
      </p:sp>
      <p:pic>
        <p:nvPicPr>
          <p:cNvPr id="7" name="Image 1" descr="Acharya Sushruta">    </p:cNvPr>
          <p:cNvPicPr>
            <a:picLocks noChangeAspect="1"/>
          </p:cNvPicPr>
          <p:nvPr/>
        </p:nvPicPr>
        <p:blipFill>
          <a:blip r:embed="rId2"/>
          <a:srcRect l="0" r="0" t="0" b="0"/>
          <a:stretch/>
        </p:blipFill>
        <p:spPr>
          <a:xfrm>
            <a:off x="320040" y="2743200"/>
            <a:ext cx="2697480" cy="38404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D4331"/>
        </a:solidFill>
      </p:bgPr>
    </p:bg>
    <p:spTree>
      <p:nvGrpSpPr>
        <p:cNvPr id="1" name=""/>
        <p:cNvGrpSpPr/>
        <p:nvPr/>
      </p:nvGrpSpPr>
      <p:grpSpPr>
        <a:xfrm>
          <a:off x="0" y="0"/>
          <a:ext cx="0" cy="0"/>
          <a:chOff x="0" y="0"/>
          <a:chExt cx="0" cy="0"/>
        </a:xfrm>
      </p:grpSpPr>
      <p:sp>
        <p:nvSpPr>
          <p:cNvPr id="2" name="Text 0"/>
          <p:cNvSpPr txBox="1"/>
          <p:nvPr/>
        </p:nvSpPr>
        <p:spPr>
          <a:xfrm>
            <a:off x="457200" y="228600"/>
            <a:ext cx="11274552" cy="685800"/>
          </a:xfrm>
          <a:prstGeom prst="rect">
            <a:avLst/>
          </a:prstGeom>
          <a:noFill/>
          <a:ln/>
        </p:spPr>
        <p:txBody>
          <a:bodyPr wrap="square" lIns="635" tIns="635" rIns="635" bIns="635"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भावार्थ — सु. क. 1/79</a:t>
            </a:r>
            <a:endParaRPr lang="en-US" sz="3400" dirty="0"/>
          </a:p>
        </p:txBody>
      </p:sp>
      <p:pic>
        <p:nvPicPr>
          <p:cNvPr id="3" name="Image 0" descr="Food being prepared">    </p:cNvPr>
          <p:cNvPicPr>
            <a:picLocks noChangeAspect="1"/>
          </p:cNvPicPr>
          <p:nvPr/>
        </p:nvPicPr>
        <p:blipFill>
          <a:blip r:embed="rId1"/>
          <a:srcRect l="0" r="0" t="0" b="0"/>
          <a:stretch/>
        </p:blipFill>
        <p:spPr>
          <a:xfrm>
            <a:off x="457200" y="1143000"/>
            <a:ext cx="2377440" cy="1691640"/>
          </a:xfrm>
          <a:prstGeom prst="rect">
            <a:avLst/>
          </a:prstGeom>
        </p:spPr>
      </p:pic>
      <p:pic>
        <p:nvPicPr>
          <p:cNvPr id="4" name="Image 1" descr="Vaidya teaching">    </p:cNvPr>
          <p:cNvPicPr>
            <a:picLocks noChangeAspect="1"/>
          </p:cNvPicPr>
          <p:nvPr/>
        </p:nvPicPr>
        <p:blipFill>
          <a:blip r:embed="rId2"/>
          <a:srcRect l="0" r="0" t="0" b="0"/>
          <a:stretch/>
        </p:blipFill>
        <p:spPr>
          <a:xfrm>
            <a:off x="457200" y="3017520"/>
            <a:ext cx="2377440" cy="1691640"/>
          </a:xfrm>
          <a:prstGeom prst="rect">
            <a:avLst/>
          </a:prstGeom>
        </p:spPr>
      </p:pic>
      <p:pic>
        <p:nvPicPr>
          <p:cNvPr id="5" name="Image 2" descr="Heart">    </p:cNvPr>
          <p:cNvPicPr>
            <a:picLocks noChangeAspect="1"/>
          </p:cNvPicPr>
          <p:nvPr/>
        </p:nvPicPr>
        <p:blipFill>
          <a:blip r:embed="rId3"/>
          <a:srcRect l="0" r="0" t="0" b="0"/>
          <a:stretch/>
        </p:blipFill>
        <p:spPr>
          <a:xfrm>
            <a:off x="457200" y="4892040"/>
            <a:ext cx="2377440" cy="1691640"/>
          </a:xfrm>
          <a:prstGeom prst="rect">
            <a:avLst/>
          </a:prstGeom>
        </p:spPr>
      </p:pic>
      <p:pic>
        <p:nvPicPr>
          <p:cNvPr id="6" name="Image 3" descr="/tmp/claude-0/-home-user-temp/7f25fba1-67f1-50aa-a5ca-20648b7772ad/scratchpad/build/img/image11.png">    </p:cNvPr>
          <p:cNvPicPr>
            <a:picLocks noChangeAspect="1"/>
          </p:cNvPicPr>
          <p:nvPr/>
        </p:nvPicPr>
        <p:blipFill>
          <a:blip r:embed="rId4"/>
          <a:stretch>
            <a:fillRect/>
          </a:stretch>
        </p:blipFill>
        <p:spPr>
          <a:xfrm>
            <a:off x="3063240" y="1097280"/>
            <a:ext cx="8778240" cy="5577840"/>
          </a:xfrm>
          <a:prstGeom prst="rect">
            <a:avLst/>
          </a:prstGeom>
        </p:spPr>
      </p:pic>
      <p:sp>
        <p:nvSpPr>
          <p:cNvPr id="7" name="Text 1"/>
          <p:cNvSpPr txBox="1"/>
          <p:nvPr/>
        </p:nvSpPr>
        <p:spPr>
          <a:xfrm>
            <a:off x="3657600" y="1691640"/>
            <a:ext cx="7635240" cy="2743200"/>
          </a:xfrm>
          <a:prstGeom prst="rect">
            <a:avLst/>
          </a:prstGeom>
          <a:noFill/>
          <a:ln/>
        </p:spPr>
        <p:txBody>
          <a:bodyPr wrap="square" lIns="635" tIns="635" rIns="635" bIns="635" rtlCol="0" anchor="t"/>
          <a:lstStyle/>
          <a:p>
            <a:pPr indent="0" marL="0">
              <a:lnSpc>
                <a:spcPct val="110000"/>
              </a:lnSpc>
              <a:buNone/>
            </a:pPr>
            <a:r>
              <a:rPr lang="en-US" sz="2100" b="1" dirty="0">
                <a:solidFill>
                  <a:srgbClr val="C00A28"/>
                </a:solidFill>
                <a:latin typeface="Nirmala UI" pitchFamily="34" charset="0"/>
                <a:ea typeface="Nirmala UI" pitchFamily="34" charset="-122"/>
                <a:cs typeface="Nirmala UI" pitchFamily="34" charset="-120"/>
              </a:rPr>
              <a:t>निर्विषं सर्वमन्नम् — </a:t>
            </a:r>
            <a:pPr indent="0" marL="0">
              <a:lnSpc>
                <a:spcPct val="110000"/>
              </a:lnSpc>
              <a:spcAft>
                <a:spcPts val="1000"/>
              </a:spcAft>
              <a:buNone/>
            </a:pPr>
            <a:r>
              <a:rPr lang="en-US" sz="2100" dirty="0">
                <a:solidFill>
                  <a:srgbClr val="222222"/>
                </a:solidFill>
                <a:latin typeface="Nirmala UI" pitchFamily="34" charset="0"/>
                <a:ea typeface="Nirmala UI" pitchFamily="34" charset="-122"/>
                <a:cs typeface="Nirmala UI" pitchFamily="34" charset="-120"/>
              </a:rPr>
              <a:t>विष के प्रभाव से युक्त अन्न को निर्विष करने का भाव।</a:t>
            </a:r>
            <a:endParaRPr lang="en-US" sz="2100" dirty="0"/>
          </a:p>
          <a:p>
            <a:pPr indent="0" marL="0">
              <a:lnSpc>
                <a:spcPct val="110000"/>
              </a:lnSpc>
              <a:buNone/>
            </a:pPr>
            <a:r>
              <a:rPr lang="en-US" sz="2100" b="1" dirty="0">
                <a:solidFill>
                  <a:srgbClr val="C00A28"/>
                </a:solidFill>
                <a:latin typeface="Nirmala UI" pitchFamily="34" charset="0"/>
                <a:ea typeface="Nirmala UI" pitchFamily="34" charset="-122"/>
                <a:cs typeface="Nirmala UI" pitchFamily="34" charset="-120"/>
              </a:rPr>
              <a:t>हृदयावरणं नित्यम् — </a:t>
            </a:r>
            <a:pPr indent="0" marL="0">
              <a:lnSpc>
                <a:spcPct val="110000"/>
              </a:lnSpc>
              <a:spcAft>
                <a:spcPts val="1000"/>
              </a:spcAft>
              <a:buNone/>
            </a:pPr>
            <a:r>
              <a:rPr lang="en-US" sz="2100" dirty="0">
                <a:solidFill>
                  <a:srgbClr val="222222"/>
                </a:solidFill>
                <a:latin typeface="Nirmala UI" pitchFamily="34" charset="0"/>
                <a:ea typeface="Nirmala UI" pitchFamily="34" charset="-122"/>
                <a:cs typeface="Nirmala UI" pitchFamily="34" charset="-120"/>
              </a:rPr>
              <a:t>हृदय को विष के दुष्प्रभाव से सुरक्षित रखने का उपाय करना।</a:t>
            </a:r>
            <a:endParaRPr lang="en-US" sz="2100" dirty="0"/>
          </a:p>
          <a:p>
            <a:pPr indent="0" marL="0">
              <a:lnSpc>
                <a:spcPct val="110000"/>
              </a:lnSpc>
              <a:buNone/>
            </a:pPr>
            <a:r>
              <a:rPr lang="en-US" sz="2100" b="1" dirty="0">
                <a:solidFill>
                  <a:srgbClr val="C00A28"/>
                </a:solidFill>
                <a:latin typeface="Nirmala UI" pitchFamily="34" charset="0"/>
                <a:ea typeface="Nirmala UI" pitchFamily="34" charset="-122"/>
                <a:cs typeface="Nirmala UI" pitchFamily="34" charset="-120"/>
              </a:rPr>
              <a:t>मुख्य भाव — </a:t>
            </a:r>
            <a:pPr indent="0" marL="0">
              <a:lnSpc>
                <a:spcPct val="110000"/>
              </a:lnSpc>
              <a:buNone/>
            </a:pPr>
            <a:r>
              <a:rPr lang="en-US" sz="2100" dirty="0">
                <a:solidFill>
                  <a:srgbClr val="222222"/>
                </a:solidFill>
                <a:latin typeface="Nirmala UI" pitchFamily="34" charset="0"/>
                <a:ea typeface="Nirmala UI" pitchFamily="34" charset="-122"/>
                <a:cs typeface="Nirmala UI" pitchFamily="34" charset="-120"/>
              </a:rPr>
              <a:t>विष चिकित्सा में केवल विष के प्रभाव को दूर करना ही नहीं, बल्कि हृदय जैसे महत्वपूर्ण अंग की रक्षा करना भी आवश्यक माना गया है।</a:t>
            </a:r>
            <a:endParaRPr lang="en-US" sz="2100" dirty="0"/>
          </a:p>
        </p:txBody>
      </p:sp>
      <p:sp>
        <p:nvSpPr>
          <p:cNvPr id="8" name="Shape 2"/>
          <p:cNvSpPr/>
          <p:nvPr/>
        </p:nvSpPr>
        <p:spPr>
          <a:xfrm>
            <a:off x="3657600" y="4617720"/>
            <a:ext cx="7635240" cy="1645920"/>
          </a:xfrm>
          <a:prstGeom prst="roundRect">
            <a:avLst>
              <a:gd name="adj" fmla="val 5556"/>
            </a:avLst>
          </a:prstGeom>
          <a:solidFill>
            <a:srgbClr val="FFFFFF">
              <a:alpha val="75000"/>
            </a:srgbClr>
          </a:solidFill>
          <a:ln w="9525">
            <a:solidFill>
              <a:srgbClr val="B9AE90"/>
            </a:solidFill>
            <a:prstDash val="solid"/>
          </a:ln>
        </p:spPr>
      </p:sp>
      <p:sp>
        <p:nvSpPr>
          <p:cNvPr id="9" name="Text 3"/>
          <p:cNvSpPr txBox="1"/>
          <p:nvPr/>
        </p:nvSpPr>
        <p:spPr>
          <a:xfrm>
            <a:off x="3840480" y="4681728"/>
            <a:ext cx="7269480" cy="1508760"/>
          </a:xfrm>
          <a:prstGeom prst="rect">
            <a:avLst/>
          </a:prstGeom>
          <a:noFill/>
          <a:ln/>
        </p:spPr>
        <p:txBody>
          <a:bodyPr wrap="square" lIns="635" tIns="635" rIns="635" bIns="635" rtlCol="0" anchor="ctr"/>
          <a:lstStyle/>
          <a:p>
            <a:pPr algn="ctr" indent="0" marL="0">
              <a:buNone/>
            </a:pPr>
            <a:r>
              <a:rPr lang="en-US" sz="2000" i="1" dirty="0">
                <a:solidFill>
                  <a:srgbClr val="1800AD"/>
                </a:solidFill>
                <a:latin typeface="Nirmala UI" pitchFamily="34" charset="0"/>
                <a:ea typeface="Nirmala UI" pitchFamily="34" charset="-122"/>
                <a:cs typeface="Nirmala UI" pitchFamily="34" charset="-120"/>
              </a:rPr>
              <a:t>“वह सभी विषयुक्त (जहरीले) अन्न को विषहीन कर देता है। मित्रों के बीच बैठे हुए भी राजा को सदैव अपने हृदय की रक्षा (हृदयावरण) करनी चाहिए।”</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D4331"/>
        </a:solidFill>
      </p:bgPr>
    </p:bg>
    <p:spTree>
      <p:nvGrpSpPr>
        <p:cNvPr id="1" name=""/>
        <p:cNvGrpSpPr/>
        <p:nvPr/>
      </p:nvGrpSpPr>
      <p:grpSpPr>
        <a:xfrm>
          <a:off x="0" y="0"/>
          <a:ext cx="0" cy="0"/>
          <a:chOff x="0" y="0"/>
          <a:chExt cx="0" cy="0"/>
        </a:xfrm>
      </p:grpSpPr>
      <p:sp>
        <p:nvSpPr>
          <p:cNvPr id="2" name="Text 0"/>
          <p:cNvSpPr txBox="1"/>
          <p:nvPr/>
        </p:nvSpPr>
        <p:spPr>
          <a:xfrm>
            <a:off x="457200" y="182880"/>
            <a:ext cx="11274552" cy="685800"/>
          </a:xfrm>
          <a:prstGeom prst="rect">
            <a:avLst/>
          </a:prstGeom>
          <a:noFill/>
          <a:ln/>
        </p:spPr>
        <p:txBody>
          <a:bodyPr wrap="square" lIns="635" tIns="635" rIns="635" bIns="635" rtlCol="0" anchor="ctr"/>
          <a:lstStyle/>
          <a:p>
            <a:pPr algn="ctr" indent="0" marL="0">
              <a:buNone/>
            </a:pPr>
            <a:r>
              <a:rPr lang="en-US" sz="3600" b="1" dirty="0">
                <a:solidFill>
                  <a:srgbClr val="47C3C6"/>
                </a:solidFill>
                <a:latin typeface="Nirmala UI" pitchFamily="34" charset="0"/>
                <a:ea typeface="Nirmala UI" pitchFamily="34" charset="-122"/>
                <a:cs typeface="Nirmala UI" pitchFamily="34" charset="-120"/>
              </a:rPr>
              <a:t>विष के वेग</a:t>
            </a:r>
            <a:endParaRPr lang="en-US" sz="3600" dirty="0"/>
          </a:p>
        </p:txBody>
      </p:sp>
      <p:sp>
        <p:nvSpPr>
          <p:cNvPr id="3" name="Text 1"/>
          <p:cNvSpPr txBox="1"/>
          <p:nvPr/>
        </p:nvSpPr>
        <p:spPr>
          <a:xfrm>
            <a:off x="457200" y="868680"/>
            <a:ext cx="11274552" cy="457200"/>
          </a:xfrm>
          <a:prstGeom prst="rect">
            <a:avLst/>
          </a:prstGeom>
          <a:noFill/>
          <a:ln/>
        </p:spPr>
        <p:txBody>
          <a:bodyPr wrap="square" lIns="635" tIns="635" rIns="635" bIns="635" rtlCol="0" anchor="ctr"/>
          <a:lstStyle/>
          <a:p>
            <a:pPr algn="ctr" indent="0" marL="0">
              <a:buNone/>
            </a:pPr>
            <a:r>
              <a:rPr lang="en-US" sz="2000" b="1" dirty="0">
                <a:solidFill>
                  <a:srgbClr val="FFFFFF"/>
                </a:solidFill>
                <a:latin typeface="Nirmala UI" pitchFamily="34" charset="0"/>
                <a:ea typeface="Nirmala UI" pitchFamily="34" charset="-122"/>
                <a:cs typeface="Nirmala UI" pitchFamily="34" charset="-120"/>
              </a:rPr>
              <a:t>आचार्य चरक के अनुसार प्राणियों में स्थावर विष — वेगानुसार लक्षण एवं चिकित्सा</a:t>
            </a:r>
            <a:endParaRPr lang="en-US" sz="2000" dirty="0"/>
          </a:p>
        </p:txBody>
      </p:sp>
      <p:sp>
        <p:nvSpPr>
          <p:cNvPr id="4" name="Text 2"/>
          <p:cNvSpPr txBox="1"/>
          <p:nvPr/>
        </p:nvSpPr>
        <p:spPr>
          <a:xfrm>
            <a:off x="457200" y="1325880"/>
            <a:ext cx="11274552" cy="411480"/>
          </a:xfrm>
          <a:prstGeom prst="rect">
            <a:avLst/>
          </a:prstGeom>
          <a:noFill/>
          <a:ln/>
        </p:spPr>
        <p:txBody>
          <a:bodyPr wrap="square" lIns="635" tIns="635" rIns="635" bIns="635" rtlCol="0" anchor="ctr"/>
          <a:lstStyle/>
          <a:p>
            <a:pPr algn="ctr" indent="0" marL="0">
              <a:buNone/>
            </a:pPr>
            <a:r>
              <a:rPr lang="en-US" sz="1800" dirty="0">
                <a:solidFill>
                  <a:srgbClr val="FCF6DB"/>
                </a:solidFill>
                <a:latin typeface="Nirmala UI" pitchFamily="34" charset="0"/>
                <a:ea typeface="Nirmala UI" pitchFamily="34" charset="-122"/>
                <a:cs typeface="Nirmala UI" pitchFamily="34" charset="-120"/>
              </a:rPr>
              <a:t>मनुष्यों में विष का प्रभाव 8 विभिन्न चरणों (वेगों) में प्रकट होता है।</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914400"/>
        </p:xfrm>
        <a:graphic>
          <a:graphicData uri="http://schemas.openxmlformats.org/drawingml/2006/table">
            <a:tbl>
              <a:tblPr/>
              <a:tblGrid>
                <a:gridCol w="1554480"/>
                <a:gridCol w="2468880"/>
                <a:gridCol w="4206240"/>
                <a:gridCol w="2862072"/>
              </a:tblGrid>
              <a:tr h="777240">
                <a:tc>
                  <a:txBody>
                    <a:bodyPr/>
                    <a:lstStyle/>
                    <a:p>
                      <a:pPr algn="ctr" indent="0" marL="0">
                        <a:buNone/>
                      </a:pPr>
                      <a:r>
                        <a:rPr lang="en-US" sz="2000" b="1" dirty="0">
                          <a:solidFill>
                            <a:srgbClr val="FFDE59"/>
                          </a:solidFill>
                          <a:latin typeface="Nirmala UI" pitchFamily="34" charset="0"/>
                          <a:ea typeface="Nirmala UI" pitchFamily="34" charset="-122"/>
                          <a:cs typeface="Nirmala UI" pitchFamily="34" charset="-120"/>
                        </a:rPr>
                        <a:t>क्रम सं.</a:t>
                      </a:r>
                      <a:endParaRPr lang="en-US" sz="2000" dirty="0">
                        <a:latin typeface="Nirmala UI" charset="0"/>
                        <a:ea typeface="Nirmala UI" charset="0"/>
                        <a:cs typeface="Nirmala UI" charset="0"/>
                      </a:endParaRPr>
                    </a:p>
                  </a:txBody>
                  <a:tcPr marL="109728" marR="109728" marT="109728" marB="109728" anchor="ctr">
                    <a:lnL w="12700" cap="flat" cmpd="sng" algn="ctr">
                      <a:solidFill>
                        <a:srgbClr val="C9C2A6"/>
                      </a:solidFill>
                      <a:prstDash val="solid"/>
                      <a:round/>
                      <a:headEnd type="none" w="med" len="med"/>
                      <a:tailEnd type="none" w="med" len="med"/>
                    </a:lnL>
                    <a:lnR w="12700" cap="flat" cmpd="sng" algn="ctr">
                      <a:solidFill>
                        <a:srgbClr val="C9C2A6"/>
                      </a:solidFill>
                      <a:prstDash val="solid"/>
                      <a:round/>
                      <a:headEnd type="none" w="med" len="med"/>
                      <a:tailEnd type="none" w="med" len="med"/>
                    </a:lnR>
                    <a:lnT w="12700" cap="flat" cmpd="sng" algn="ctr">
                      <a:solidFill>
                        <a:srgbClr val="C9C2A6"/>
                      </a:solidFill>
                      <a:prstDash val="solid"/>
                      <a:round/>
                      <a:headEnd type="none" w="med" len="med"/>
                      <a:tailEnd type="none" w="med" len="med"/>
                    </a:lnT>
                    <a:lnB w="12700" cap="flat" cmpd="sng" algn="ctr">
                      <a:solidFill>
                        <a:srgbClr val="C9C2A6"/>
                      </a:solidFill>
                      <a:prstDash val="solid"/>
                      <a:round/>
                      <a:headEnd type="none" w="med" len="med"/>
                      <a:tailEnd type="none" w="med" len="med"/>
                    </a:lnB>
                    <a:solidFill>
                      <a:srgbClr val="2A3022"/>
                    </a:solidFill>
                  </a:tcPr>
                </a:tc>
                <a:tc>
                  <a:txBody>
                    <a:bodyPr/>
                    <a:lstStyle/>
                    <a:p>
                      <a:pPr algn="ctr" indent="0" marL="0">
                        <a:buNone/>
                      </a:pPr>
                      <a:r>
                        <a:rPr lang="en-US" sz="2000" b="1" dirty="0">
                          <a:solidFill>
                            <a:srgbClr val="FFDE59"/>
                          </a:solidFill>
                          <a:latin typeface="Nirmala UI" pitchFamily="34" charset="0"/>
                          <a:ea typeface="Nirmala UI" pitchFamily="34" charset="-122"/>
                          <a:cs typeface="Nirmala UI" pitchFamily="34" charset="-120"/>
                        </a:rPr>
                        <a:t>दोष एवं धातु का सम्मिलित</a:t>
                      </a:r>
                      <a:endParaRPr lang="en-US" sz="2000" dirty="0">
                        <a:latin typeface="Nirmala UI" charset="0"/>
                        <a:ea typeface="Nirmala UI" charset="0"/>
                        <a:cs typeface="Nirmala UI" charset="0"/>
                      </a:endParaRPr>
                    </a:p>
                  </a:txBody>
                  <a:tcPr marL="109728" marR="109728" marT="109728" marB="109728" anchor="ctr">
                    <a:lnL w="12700" cap="flat" cmpd="sng" algn="ctr">
                      <a:solidFill>
                        <a:srgbClr val="C9C2A6"/>
                      </a:solidFill>
                      <a:prstDash val="solid"/>
                      <a:round/>
                      <a:headEnd type="none" w="med" len="med"/>
                      <a:tailEnd type="none" w="med" len="med"/>
                    </a:lnL>
                    <a:lnR w="12700" cap="flat" cmpd="sng" algn="ctr">
                      <a:solidFill>
                        <a:srgbClr val="C9C2A6"/>
                      </a:solidFill>
                      <a:prstDash val="solid"/>
                      <a:round/>
                      <a:headEnd type="none" w="med" len="med"/>
                      <a:tailEnd type="none" w="med" len="med"/>
                    </a:lnR>
                    <a:lnT w="12700" cap="flat" cmpd="sng" algn="ctr">
                      <a:solidFill>
                        <a:srgbClr val="C9C2A6"/>
                      </a:solidFill>
                      <a:prstDash val="solid"/>
                      <a:round/>
                      <a:headEnd type="none" w="med" len="med"/>
                      <a:tailEnd type="none" w="med" len="med"/>
                    </a:lnT>
                    <a:lnB w="12700" cap="flat" cmpd="sng" algn="ctr">
                      <a:solidFill>
                        <a:srgbClr val="C9C2A6"/>
                      </a:solidFill>
                      <a:prstDash val="solid"/>
                      <a:round/>
                      <a:headEnd type="none" w="med" len="med"/>
                      <a:tailEnd type="none" w="med" len="med"/>
                    </a:lnB>
                    <a:solidFill>
                      <a:srgbClr val="2A3022"/>
                    </a:solidFill>
                  </a:tcPr>
                </a:tc>
                <a:tc>
                  <a:txBody>
                    <a:bodyPr/>
                    <a:lstStyle/>
                    <a:p>
                      <a:pPr algn="ctr" indent="0" marL="0">
                        <a:buNone/>
                      </a:pPr>
                      <a:r>
                        <a:rPr lang="en-US" sz="2000" b="1" dirty="0">
                          <a:solidFill>
                            <a:srgbClr val="FFDE59"/>
                          </a:solidFill>
                          <a:latin typeface="Nirmala UI" pitchFamily="34" charset="0"/>
                          <a:ea typeface="Nirmala UI" pitchFamily="34" charset="-122"/>
                          <a:cs typeface="Nirmala UI" pitchFamily="34" charset="-120"/>
                        </a:rPr>
                        <a:t>लक्षण</a:t>
                      </a:r>
                      <a:endParaRPr lang="en-US" sz="2000" dirty="0">
                        <a:latin typeface="Nirmala UI" charset="0"/>
                        <a:ea typeface="Nirmala UI" charset="0"/>
                        <a:cs typeface="Nirmala UI" charset="0"/>
                      </a:endParaRPr>
                    </a:p>
                  </a:txBody>
                  <a:tcPr marL="109728" marR="109728" marT="109728" marB="109728" anchor="ctr">
                    <a:lnL w="12700" cap="flat" cmpd="sng" algn="ctr">
                      <a:solidFill>
                        <a:srgbClr val="C9C2A6"/>
                      </a:solidFill>
                      <a:prstDash val="solid"/>
                      <a:round/>
                      <a:headEnd type="none" w="med" len="med"/>
                      <a:tailEnd type="none" w="med" len="med"/>
                    </a:lnL>
                    <a:lnR w="12700" cap="flat" cmpd="sng" algn="ctr">
                      <a:solidFill>
                        <a:srgbClr val="C9C2A6"/>
                      </a:solidFill>
                      <a:prstDash val="solid"/>
                      <a:round/>
                      <a:headEnd type="none" w="med" len="med"/>
                      <a:tailEnd type="none" w="med" len="med"/>
                    </a:lnR>
                    <a:lnT w="12700" cap="flat" cmpd="sng" algn="ctr">
                      <a:solidFill>
                        <a:srgbClr val="C9C2A6"/>
                      </a:solidFill>
                      <a:prstDash val="solid"/>
                      <a:round/>
                      <a:headEnd type="none" w="med" len="med"/>
                      <a:tailEnd type="none" w="med" len="med"/>
                    </a:lnT>
                    <a:lnB w="12700" cap="flat" cmpd="sng" algn="ctr">
                      <a:solidFill>
                        <a:srgbClr val="C9C2A6"/>
                      </a:solidFill>
                      <a:prstDash val="solid"/>
                      <a:round/>
                      <a:headEnd type="none" w="med" len="med"/>
                      <a:tailEnd type="none" w="med" len="med"/>
                    </a:lnB>
                    <a:solidFill>
                      <a:srgbClr val="2A3022"/>
                    </a:solidFill>
                  </a:tcPr>
                </a:tc>
                <a:tc>
                  <a:txBody>
                    <a:bodyPr/>
                    <a:lstStyle/>
                    <a:p>
                      <a:pPr algn="ctr" indent="0" marL="0">
                        <a:buNone/>
                      </a:pPr>
                      <a:r>
                        <a:rPr lang="en-US" sz="2000" b="1" dirty="0">
                          <a:solidFill>
                            <a:srgbClr val="FFDE59"/>
                          </a:solidFill>
                          <a:latin typeface="Nirmala UI" pitchFamily="34" charset="0"/>
                          <a:ea typeface="Nirmala UI" pitchFamily="34" charset="-122"/>
                          <a:cs typeface="Nirmala UI" pitchFamily="34" charset="-120"/>
                        </a:rPr>
                        <a:t>चिकित्सा</a:t>
                      </a:r>
                      <a:endParaRPr lang="en-US" sz="2000" dirty="0">
                        <a:latin typeface="Nirmala UI" charset="0"/>
                        <a:ea typeface="Nirmala UI" charset="0"/>
                        <a:cs typeface="Nirmala UI" charset="0"/>
                      </a:endParaRPr>
                    </a:p>
                  </a:txBody>
                  <a:tcPr marL="109728" marR="109728" marT="109728" marB="109728" anchor="ctr">
                    <a:lnL w="12700" cap="flat" cmpd="sng" algn="ctr">
                      <a:solidFill>
                        <a:srgbClr val="C9C2A6"/>
                      </a:solidFill>
                      <a:prstDash val="solid"/>
                      <a:round/>
                      <a:headEnd type="none" w="med" len="med"/>
                      <a:tailEnd type="none" w="med" len="med"/>
                    </a:lnL>
                    <a:lnR w="12700" cap="flat" cmpd="sng" algn="ctr">
                      <a:solidFill>
                        <a:srgbClr val="C9C2A6"/>
                      </a:solidFill>
                      <a:prstDash val="solid"/>
                      <a:round/>
                      <a:headEnd type="none" w="med" len="med"/>
                      <a:tailEnd type="none" w="med" len="med"/>
                    </a:lnR>
                    <a:lnT w="12700" cap="flat" cmpd="sng" algn="ctr">
                      <a:solidFill>
                        <a:srgbClr val="C9C2A6"/>
                      </a:solidFill>
                      <a:prstDash val="solid"/>
                      <a:round/>
                      <a:headEnd type="none" w="med" len="med"/>
                      <a:tailEnd type="none" w="med" len="med"/>
                    </a:lnT>
                    <a:lnB w="12700" cap="flat" cmpd="sng" algn="ctr">
                      <a:solidFill>
                        <a:srgbClr val="C9C2A6"/>
                      </a:solidFill>
                      <a:prstDash val="solid"/>
                      <a:round/>
                      <a:headEnd type="none" w="med" len="med"/>
                      <a:tailEnd type="none" w="med" len="med"/>
                    </a:lnB>
                    <a:solidFill>
                      <a:srgbClr val="2A3022"/>
                    </a:solidFill>
                  </a:tcPr>
                </a:tc>
              </a:tr>
              <a:tr h="3291840">
                <a:tc>
                  <a:txBody>
                    <a:bodyPr/>
                    <a:lstStyle/>
                    <a:p>
                      <a:pPr algn="ctr" indent="0" marL="0">
                        <a:buNone/>
                      </a:pPr>
                      <a:r>
                        <a:rPr lang="en-US" sz="2200" b="1" dirty="0">
                          <a:solidFill>
                            <a:srgbClr val="FFFFFF"/>
                          </a:solidFill>
                          <a:latin typeface="Nirmala UI" pitchFamily="34" charset="0"/>
                          <a:ea typeface="Nirmala UI" pitchFamily="34" charset="-122"/>
                          <a:cs typeface="Nirmala UI" pitchFamily="34" charset="-120"/>
                        </a:rPr>
                        <a:t>2nd वेग</a:t>
                      </a:r>
                      <a:endParaRPr lang="en-US" sz="2200" dirty="0">
                        <a:latin typeface="Nirmala UI" charset="0"/>
                        <a:ea typeface="Nirmala UI" charset="0"/>
                        <a:cs typeface="Nirmala UI" charset="0"/>
                      </a:endParaRPr>
                    </a:p>
                  </a:txBody>
                  <a:tcPr marL="109728" marR="109728" marT="109728" marB="109728" anchor="t">
                    <a:lnL w="12700" cap="flat" cmpd="sng" algn="ctr">
                      <a:solidFill>
                        <a:srgbClr val="C9C2A6"/>
                      </a:solidFill>
                      <a:prstDash val="solid"/>
                      <a:round/>
                      <a:headEnd type="none" w="med" len="med"/>
                      <a:tailEnd type="none" w="med" len="med"/>
                    </a:lnL>
                    <a:lnR w="12700" cap="flat" cmpd="sng" algn="ctr">
                      <a:solidFill>
                        <a:srgbClr val="C9C2A6"/>
                      </a:solidFill>
                      <a:prstDash val="solid"/>
                      <a:round/>
                      <a:headEnd type="none" w="med" len="med"/>
                      <a:tailEnd type="none" w="med" len="med"/>
                    </a:lnR>
                    <a:lnT w="12700" cap="flat" cmpd="sng" algn="ctr">
                      <a:solidFill>
                        <a:srgbClr val="C9C2A6"/>
                      </a:solidFill>
                      <a:prstDash val="solid"/>
                      <a:round/>
                      <a:headEnd type="none" w="med" len="med"/>
                      <a:tailEnd type="none" w="med" len="med"/>
                    </a:lnT>
                    <a:lnB w="12700" cap="flat" cmpd="sng" algn="ctr">
                      <a:solidFill>
                        <a:srgbClr val="C9C2A6"/>
                      </a:solidFill>
                      <a:prstDash val="solid"/>
                      <a:round/>
                      <a:headEnd type="none" w="med" len="med"/>
                      <a:tailEnd type="none" w="med" len="med"/>
                    </a:lnB>
                    <a:solidFill>
                      <a:srgbClr val="3D4331"/>
                    </a:solidFill>
                  </a:tcPr>
                </a:tc>
                <a:tc>
                  <a:txBody>
                    <a:bodyPr/>
                    <a:lstStyle/>
                    <a:p>
                      <a:pPr algn="ctr" indent="0" marL="0">
                        <a:buNone/>
                      </a:pPr>
                      <a:r>
                        <a:rPr lang="en-US" sz="2400" b="1" dirty="0">
                          <a:solidFill>
                            <a:srgbClr val="FFFFFF"/>
                          </a:solidFill>
                          <a:latin typeface="Nirmala UI" pitchFamily="34" charset="0"/>
                          <a:ea typeface="Nirmala UI" pitchFamily="34" charset="-122"/>
                          <a:cs typeface="Nirmala UI" pitchFamily="34" charset="-120"/>
                        </a:rPr>
                        <a:t>रक्त</a:t>
                      </a:r>
                      <a:endParaRPr lang="en-US" sz="2400" dirty="0">
                        <a:latin typeface="Nirmala UI" charset="0"/>
                        <a:ea typeface="Nirmala UI" charset="0"/>
                        <a:cs typeface="Nirmala UI" charset="0"/>
                      </a:endParaRPr>
                    </a:p>
                  </a:txBody>
                  <a:tcPr marL="109728" marR="109728" marT="109728" marB="109728" anchor="t">
                    <a:lnL w="12700" cap="flat" cmpd="sng" algn="ctr">
                      <a:solidFill>
                        <a:srgbClr val="C9C2A6"/>
                      </a:solidFill>
                      <a:prstDash val="solid"/>
                      <a:round/>
                      <a:headEnd type="none" w="med" len="med"/>
                      <a:tailEnd type="none" w="med" len="med"/>
                    </a:lnL>
                    <a:lnR w="12700" cap="flat" cmpd="sng" algn="ctr">
                      <a:solidFill>
                        <a:srgbClr val="C9C2A6"/>
                      </a:solidFill>
                      <a:prstDash val="solid"/>
                      <a:round/>
                      <a:headEnd type="none" w="med" len="med"/>
                      <a:tailEnd type="none" w="med" len="med"/>
                    </a:lnR>
                    <a:lnT w="12700" cap="flat" cmpd="sng" algn="ctr">
                      <a:solidFill>
                        <a:srgbClr val="C9C2A6"/>
                      </a:solidFill>
                      <a:prstDash val="solid"/>
                      <a:round/>
                      <a:headEnd type="none" w="med" len="med"/>
                      <a:tailEnd type="none" w="med" len="med"/>
                    </a:lnT>
                    <a:lnB w="12700" cap="flat" cmpd="sng" algn="ctr">
                      <a:solidFill>
                        <a:srgbClr val="C9C2A6"/>
                      </a:solidFill>
                      <a:prstDash val="solid"/>
                      <a:round/>
                      <a:headEnd type="none" w="med" len="med"/>
                      <a:tailEnd type="none" w="med" len="med"/>
                    </a:lnB>
                    <a:solidFill>
                      <a:srgbClr val="3D4331"/>
                    </a:solidFill>
                  </a:tcPr>
                </a:tc>
                <a:tc>
                  <a:txBody>
                    <a:bodyPr/>
                    <a:lstStyle/>
                    <a:p>
                      <a:pPr algn="l" marL="342900" indent="-342900">
                        <a:spcAft>
                          <a:spcPts val="800"/>
                        </a:spcAft>
                        <a:buSzPct val="100000"/>
                        <a:buChar char="•"/>
                      </a:pPr>
                      <a:r>
                        <a:rPr lang="en-US" sz="1800" dirty="0">
                          <a:solidFill>
                            <a:srgbClr val="FFFFFF"/>
                          </a:solidFill>
                          <a:latin typeface="Nirmala UI" pitchFamily="34" charset="0"/>
                          <a:ea typeface="Nirmala UI" pitchFamily="34" charset="-122"/>
                          <a:cs typeface="Nirmala UI" pitchFamily="34" charset="-120"/>
                        </a:rPr>
                        <a:t>वैवर्ण्य – Discoloration of skin</a:t>
                      </a:r>
                      <a:endParaRPr lang="en-US" sz="1800" dirty="0">
                        <a:latin typeface="Nirmala UI" charset="0"/>
                        <a:ea typeface="Nirmala UI" charset="0"/>
                        <a:cs typeface="Nirmala UI" charset="0"/>
                      </a:endParaRPr>
                    </a:p>
                    <a:p>
                      <a:pPr algn="l" marL="342900" indent="-342900">
                        <a:spcAft>
                          <a:spcPts val="800"/>
                        </a:spcAft>
                        <a:buSzPct val="100000"/>
                        <a:buChar char="•"/>
                      </a:pPr>
                      <a:r>
                        <a:rPr lang="en-US" sz="1800" dirty="0">
                          <a:solidFill>
                            <a:srgbClr val="FFFFFF"/>
                          </a:solidFill>
                          <a:latin typeface="Nirmala UI" pitchFamily="34" charset="0"/>
                          <a:ea typeface="Nirmala UI" pitchFamily="34" charset="-122"/>
                          <a:cs typeface="Nirmala UI" pitchFamily="34" charset="-120"/>
                        </a:rPr>
                        <a:t>भ्रम – Giddiness, Fainting</a:t>
                      </a:r>
                      <a:endParaRPr lang="en-US" sz="1800" dirty="0">
                        <a:latin typeface="Nirmala UI" charset="0"/>
                        <a:ea typeface="Nirmala UI" charset="0"/>
                        <a:cs typeface="Nirmala UI" charset="0"/>
                      </a:endParaRPr>
                    </a:p>
                    <a:p>
                      <a:pPr algn="l" marL="342900" indent="-342900">
                        <a:spcAft>
                          <a:spcPts val="800"/>
                        </a:spcAft>
                        <a:buSzPct val="100000"/>
                        <a:buChar char="•"/>
                      </a:pPr>
                      <a:r>
                        <a:rPr lang="en-US" sz="1800" dirty="0">
                          <a:solidFill>
                            <a:srgbClr val="FFFFFF"/>
                          </a:solidFill>
                          <a:latin typeface="Nirmala UI" pitchFamily="34" charset="0"/>
                          <a:ea typeface="Nirmala UI" pitchFamily="34" charset="-122"/>
                          <a:cs typeface="Nirmala UI" pitchFamily="34" charset="-120"/>
                        </a:rPr>
                        <a:t>वेपथु – Trembling</a:t>
                      </a:r>
                      <a:endParaRPr lang="en-US" sz="1800" dirty="0">
                        <a:latin typeface="Nirmala UI" charset="0"/>
                        <a:ea typeface="Nirmala UI" charset="0"/>
                        <a:cs typeface="Nirmala UI" charset="0"/>
                      </a:endParaRPr>
                    </a:p>
                    <a:p>
                      <a:pPr algn="l" marL="342900" indent="-342900">
                        <a:spcAft>
                          <a:spcPts val="800"/>
                        </a:spcAft>
                        <a:buSzPct val="100000"/>
                        <a:buChar char="•"/>
                      </a:pPr>
                      <a:r>
                        <a:rPr lang="en-US" sz="1800" dirty="0">
                          <a:solidFill>
                            <a:srgbClr val="FFFFFF"/>
                          </a:solidFill>
                          <a:latin typeface="Nirmala UI" pitchFamily="34" charset="0"/>
                          <a:ea typeface="Nirmala UI" pitchFamily="34" charset="-122"/>
                          <a:cs typeface="Nirmala UI" pitchFamily="34" charset="-120"/>
                        </a:rPr>
                        <a:t>जृम्भा – Yawning</a:t>
                      </a:r>
                      <a:endParaRPr lang="en-US" sz="1800" dirty="0">
                        <a:latin typeface="Nirmala UI" charset="0"/>
                        <a:ea typeface="Nirmala UI" charset="0"/>
                        <a:cs typeface="Nirmala UI" charset="0"/>
                      </a:endParaRPr>
                    </a:p>
                    <a:p>
                      <a:pPr algn="l" marL="342900" indent="-342900">
                        <a:spcAft>
                          <a:spcPts val="800"/>
                        </a:spcAft>
                        <a:buSzPct val="100000"/>
                        <a:buChar char="•"/>
                      </a:pPr>
                      <a:r>
                        <a:rPr lang="en-US" sz="1800" dirty="0">
                          <a:solidFill>
                            <a:srgbClr val="FFFFFF"/>
                          </a:solidFill>
                          <a:latin typeface="Nirmala UI" pitchFamily="34" charset="0"/>
                          <a:ea typeface="Nirmala UI" pitchFamily="34" charset="-122"/>
                          <a:cs typeface="Nirmala UI" pitchFamily="34" charset="-120"/>
                        </a:rPr>
                        <a:t>भंग – Tingling in the limbs</a:t>
                      </a:r>
                      <a:endParaRPr lang="en-US" sz="1800" dirty="0">
                        <a:latin typeface="Nirmala UI" charset="0"/>
                        <a:ea typeface="Nirmala UI" charset="0"/>
                        <a:cs typeface="Nirmala UI" charset="0"/>
                      </a:endParaRPr>
                    </a:p>
                    <a:p>
                      <a:pPr algn="l" marL="342900" indent="-342900">
                        <a:spcAft>
                          <a:spcPts val="800"/>
                        </a:spcAft>
                        <a:buSzPct val="100000"/>
                        <a:buChar char="•"/>
                      </a:pPr>
                      <a:r>
                        <a:rPr lang="en-US" sz="1800" dirty="0">
                          <a:solidFill>
                            <a:srgbClr val="FFFFFF"/>
                          </a:solidFill>
                          <a:latin typeface="Nirmala UI" pitchFamily="34" charset="0"/>
                          <a:ea typeface="Nirmala UI" pitchFamily="34" charset="-122"/>
                          <a:cs typeface="Nirmala UI" pitchFamily="34" charset="-120"/>
                        </a:rPr>
                        <a:t>श्वास – Dyspnoea</a:t>
                      </a:r>
                      <a:endParaRPr lang="en-US" sz="1800" dirty="0">
                        <a:latin typeface="Nirmala UI" charset="0"/>
                        <a:ea typeface="Nirmala UI" charset="0"/>
                        <a:cs typeface="Nirmala UI" charset="0"/>
                      </a:endParaRPr>
                    </a:p>
                  </a:txBody>
                  <a:tcPr marL="109728" marR="109728" marT="109728" marB="109728" anchor="t">
                    <a:lnL w="12700" cap="flat" cmpd="sng" algn="ctr">
                      <a:solidFill>
                        <a:srgbClr val="C9C2A6"/>
                      </a:solidFill>
                      <a:prstDash val="solid"/>
                      <a:round/>
                      <a:headEnd type="none" w="med" len="med"/>
                      <a:tailEnd type="none" w="med" len="med"/>
                    </a:lnL>
                    <a:lnR w="12700" cap="flat" cmpd="sng" algn="ctr">
                      <a:solidFill>
                        <a:srgbClr val="C9C2A6"/>
                      </a:solidFill>
                      <a:prstDash val="solid"/>
                      <a:round/>
                      <a:headEnd type="none" w="med" len="med"/>
                      <a:tailEnd type="none" w="med" len="med"/>
                    </a:lnR>
                    <a:lnT w="12700" cap="flat" cmpd="sng" algn="ctr">
                      <a:solidFill>
                        <a:srgbClr val="C9C2A6"/>
                      </a:solidFill>
                      <a:prstDash val="solid"/>
                      <a:round/>
                      <a:headEnd type="none" w="med" len="med"/>
                      <a:tailEnd type="none" w="med" len="med"/>
                    </a:lnT>
                    <a:lnB w="12700" cap="flat" cmpd="sng" algn="ctr">
                      <a:solidFill>
                        <a:srgbClr val="C9C2A6"/>
                      </a:solidFill>
                      <a:prstDash val="solid"/>
                      <a:round/>
                      <a:headEnd type="none" w="med" len="med"/>
                      <a:tailEnd type="none" w="med" len="med"/>
                    </a:lnB>
                    <a:solidFill>
                      <a:srgbClr val="3D4331"/>
                    </a:solidFill>
                  </a:tcPr>
                </a:tc>
                <a:tc>
                  <a:txBody>
                    <a:bodyPr/>
                    <a:lstStyle/>
                    <a:p>
                      <a:pPr algn="ctr" indent="0" marL="0">
                        <a:buNone/>
                      </a:pPr>
                      <a:r>
                        <a:rPr lang="en-US" sz="2200" dirty="0">
                          <a:solidFill>
                            <a:srgbClr val="FFFFFF"/>
                          </a:solidFill>
                          <a:latin typeface="Nirmala UI" pitchFamily="34" charset="0"/>
                          <a:ea typeface="Nirmala UI" pitchFamily="34" charset="-122"/>
                          <a:cs typeface="Nirmala UI" pitchFamily="34" charset="-120"/>
                        </a:rPr>
                        <a:t>विरेचन, </a:t>
                      </a:r>
                      <a:endParaRPr lang="en-US" sz="2200" dirty="0">
                        <a:latin typeface="Nirmala UI" charset="0"/>
                        <a:ea typeface="Nirmala UI" charset="0"/>
                        <a:cs typeface="Nirmala UI" charset="0"/>
                      </a:endParaRPr>
                    </a:p>
                    <a:p>
                      <a:pPr algn="ctr" indent="0" marL="0">
                        <a:buNone/>
                      </a:pPr>
                      <a:r>
                        <a:rPr lang="en-US" sz="2200" b="1" dirty="0">
                          <a:solidFill>
                            <a:srgbClr val="FB553C"/>
                          </a:solidFill>
                          <a:latin typeface="Nirmala UI" pitchFamily="34" charset="0"/>
                          <a:ea typeface="Nirmala UI" pitchFamily="34" charset="-122"/>
                          <a:cs typeface="Nirmala UI" pitchFamily="34" charset="-120"/>
                        </a:rPr>
                        <a:t>हृदयावरण</a:t>
                      </a:r>
                      <a:endParaRPr lang="en-US" sz="2200" dirty="0">
                        <a:latin typeface="Nirmala UI" charset="0"/>
                        <a:ea typeface="Nirmala UI" charset="0"/>
                        <a:cs typeface="Nirmala UI" charset="0"/>
                      </a:endParaRPr>
                    </a:p>
                  </a:txBody>
                  <a:tcPr marL="109728" marR="109728" marT="109728" marB="109728" anchor="t">
                    <a:lnL w="12700" cap="flat" cmpd="sng" algn="ctr">
                      <a:solidFill>
                        <a:srgbClr val="C9C2A6"/>
                      </a:solidFill>
                      <a:prstDash val="solid"/>
                      <a:round/>
                      <a:headEnd type="none" w="med" len="med"/>
                      <a:tailEnd type="none" w="med" len="med"/>
                    </a:lnL>
                    <a:lnR w="12700" cap="flat" cmpd="sng" algn="ctr">
                      <a:solidFill>
                        <a:srgbClr val="C9C2A6"/>
                      </a:solidFill>
                      <a:prstDash val="solid"/>
                      <a:round/>
                      <a:headEnd type="none" w="med" len="med"/>
                      <a:tailEnd type="none" w="med" len="med"/>
                    </a:lnR>
                    <a:lnT w="12700" cap="flat" cmpd="sng" algn="ctr">
                      <a:solidFill>
                        <a:srgbClr val="C9C2A6"/>
                      </a:solidFill>
                      <a:prstDash val="solid"/>
                      <a:round/>
                      <a:headEnd type="none" w="med" len="med"/>
                      <a:tailEnd type="none" w="med" len="med"/>
                    </a:lnT>
                    <a:lnB w="12700" cap="flat" cmpd="sng" algn="ctr">
                      <a:solidFill>
                        <a:srgbClr val="C9C2A6"/>
                      </a:solidFill>
                      <a:prstDash val="solid"/>
                      <a:round/>
                      <a:headEnd type="none" w="med" len="med"/>
                      <a:tailEnd type="none" w="med" len="med"/>
                    </a:lnB>
                    <a:solidFill>
                      <a:srgbClr val="3D4331"/>
                    </a:solidFill>
                  </a:tcPr>
                </a:tc>
              </a:tr>
            </a:tbl>
          </a:graphicData>
        </a:graphic>
      </p:graphicFrame>
      <p:pic>
        <p:nvPicPr>
          <p:cNvPr id="6" name="Image 0" descr="Blood drop">    </p:cNvPr>
          <p:cNvPicPr>
            <a:picLocks noChangeAspect="1"/>
          </p:cNvPicPr>
          <p:nvPr/>
        </p:nvPicPr>
        <p:blipFill>
          <a:blip r:embed="rId1"/>
          <a:stretch>
            <a:fillRect/>
          </a:stretch>
        </p:blipFill>
        <p:spPr>
          <a:xfrm>
            <a:off x="2819154" y="3429000"/>
            <a:ext cx="1036812" cy="1737360"/>
          </a:xfrm>
          <a:prstGeom prst="rect">
            <a:avLst/>
          </a:prstGeom>
        </p:spPr>
      </p:pic>
      <p:pic>
        <p:nvPicPr>
          <p:cNvPr id="7" name="Image 1" descr="Digestive system">    </p:cNvPr>
          <p:cNvPicPr>
            <a:picLocks noChangeAspect="1"/>
          </p:cNvPicPr>
          <p:nvPr/>
        </p:nvPicPr>
        <p:blipFill>
          <a:blip r:embed="rId2"/>
          <a:srcRect l="0" r="0" t="0" b="0"/>
          <a:stretch/>
        </p:blipFill>
        <p:spPr>
          <a:xfrm>
            <a:off x="8915400" y="3794760"/>
            <a:ext cx="1280160" cy="1417320"/>
          </a:xfrm>
          <a:prstGeom prst="rect">
            <a:avLst/>
          </a:prstGeom>
        </p:spPr>
      </p:pic>
      <p:pic>
        <p:nvPicPr>
          <p:cNvPr id="8" name="Image 2" descr="Heart">    </p:cNvPr>
          <p:cNvPicPr>
            <a:picLocks noChangeAspect="1"/>
          </p:cNvPicPr>
          <p:nvPr/>
        </p:nvPicPr>
        <p:blipFill>
          <a:blip r:embed="rId3"/>
          <a:srcRect l="0" r="0" t="0" b="0"/>
          <a:stretch/>
        </p:blipFill>
        <p:spPr>
          <a:xfrm>
            <a:off x="10287000" y="3794760"/>
            <a:ext cx="1280160" cy="14173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D4331"/>
        </a:solidFill>
      </p:bgPr>
    </p:bg>
    <p:spTree>
      <p:nvGrpSpPr>
        <p:cNvPr id="1" name=""/>
        <p:cNvGrpSpPr/>
        <p:nvPr/>
      </p:nvGrpSpPr>
      <p:grpSpPr>
        <a:xfrm>
          <a:off x="0" y="0"/>
          <a:ext cx="0" cy="0"/>
          <a:chOff x="0" y="0"/>
          <a:chExt cx="0" cy="0"/>
        </a:xfrm>
      </p:grpSpPr>
      <p:sp>
        <p:nvSpPr>
          <p:cNvPr id="2" name="Text 0"/>
          <p:cNvSpPr txBox="1"/>
          <p:nvPr/>
        </p:nvSpPr>
        <p:spPr>
          <a:xfrm>
            <a:off x="457200" y="182880"/>
            <a:ext cx="11274552" cy="731520"/>
          </a:xfrm>
          <a:prstGeom prst="rect">
            <a:avLst/>
          </a:prstGeom>
          <a:noFill/>
          <a:ln/>
        </p:spPr>
        <p:txBody>
          <a:bodyPr wrap="square" lIns="635" tIns="635" rIns="635" bIns="635" rtlCol="0" anchor="ctr"/>
          <a:lstStyle/>
          <a:p>
            <a:pPr algn="ctr" indent="0" marL="0">
              <a:buNone/>
            </a:pPr>
            <a:r>
              <a:rPr lang="en-US" sz="3000" b="1" dirty="0">
                <a:solidFill>
                  <a:srgbClr val="FFDE59"/>
                </a:solidFill>
                <a:latin typeface="Nirmala UI" pitchFamily="34" charset="0"/>
                <a:ea typeface="Nirmala UI" pitchFamily="34" charset="-122"/>
                <a:cs typeface="Nirmala UI" pitchFamily="34" charset="-120"/>
              </a:rPr>
              <a:t>हृदय को प्रभावित करने वाले प्रमुख आयुर्वेदीय विष-द्रव्य</a:t>
            </a:r>
            <a:endParaRPr lang="en-US" sz="3000" dirty="0"/>
          </a:p>
        </p:txBody>
      </p:sp>
      <p:sp>
        <p:nvSpPr>
          <p:cNvPr id="3" name="Shape 1"/>
          <p:cNvSpPr/>
          <p:nvPr/>
        </p:nvSpPr>
        <p:spPr>
          <a:xfrm>
            <a:off x="548640" y="1097280"/>
            <a:ext cx="11091672" cy="1691640"/>
          </a:xfrm>
          <a:prstGeom prst="roundRect">
            <a:avLst>
              <a:gd name="adj" fmla="val 5405"/>
            </a:avLst>
          </a:prstGeom>
          <a:solidFill>
            <a:srgbClr val="4B5340"/>
          </a:solidFill>
          <a:ln w="9525">
            <a:solidFill>
              <a:srgbClr val="5E6850"/>
            </a:solidFill>
            <a:prstDash val="solid"/>
          </a:ln>
        </p:spPr>
      </p:sp>
      <p:pic>
        <p:nvPicPr>
          <p:cNvPr id="4" name="Image 0" descr="1. वत्सनाभ (Vatsanabha)">    </p:cNvPr>
          <p:cNvPicPr>
            <a:picLocks noChangeAspect="1"/>
          </p:cNvPicPr>
          <p:nvPr/>
        </p:nvPicPr>
        <p:blipFill>
          <a:blip r:embed="rId1"/>
          <a:srcRect l="0" r="0" t="0" b="0"/>
          <a:stretch/>
        </p:blipFill>
        <p:spPr>
          <a:xfrm>
            <a:off x="713232" y="1252728"/>
            <a:ext cx="2103120" cy="1380744"/>
          </a:xfrm>
          <a:prstGeom prst="rect">
            <a:avLst/>
          </a:prstGeom>
        </p:spPr>
      </p:pic>
      <p:sp>
        <p:nvSpPr>
          <p:cNvPr id="5" name="Text 2"/>
          <p:cNvSpPr txBox="1"/>
          <p:nvPr/>
        </p:nvSpPr>
        <p:spPr>
          <a:xfrm>
            <a:off x="3063240" y="1207008"/>
            <a:ext cx="8321040" cy="438912"/>
          </a:xfrm>
          <a:prstGeom prst="rect">
            <a:avLst/>
          </a:prstGeom>
          <a:noFill/>
          <a:ln/>
        </p:spPr>
        <p:txBody>
          <a:bodyPr wrap="square" lIns="635" tIns="635" rIns="635" bIns="635" rtlCol="0" anchor="ctr"/>
          <a:lstStyle/>
          <a:p>
            <a:pPr indent="0" marL="0">
              <a:buNone/>
            </a:pPr>
            <a:r>
              <a:rPr lang="en-US" sz="2100" b="1" dirty="0">
                <a:solidFill>
                  <a:srgbClr val="FFDE59"/>
                </a:solidFill>
                <a:latin typeface="Nirmala UI" pitchFamily="34" charset="0"/>
                <a:ea typeface="Nirmala UI" pitchFamily="34" charset="-122"/>
                <a:cs typeface="Nirmala UI" pitchFamily="34" charset="-120"/>
              </a:rPr>
              <a:t>1. वत्सनाभ (Vatsanabha)</a:t>
            </a:r>
            <a:endParaRPr lang="en-US" sz="2100" dirty="0"/>
          </a:p>
        </p:txBody>
      </p:sp>
      <p:sp>
        <p:nvSpPr>
          <p:cNvPr id="6" name="Text 3"/>
          <p:cNvSpPr txBox="1"/>
          <p:nvPr/>
        </p:nvSpPr>
        <p:spPr>
          <a:xfrm>
            <a:off x="3063240" y="1645920"/>
            <a:ext cx="8321040" cy="1051560"/>
          </a:xfrm>
          <a:prstGeom prst="rect">
            <a:avLst/>
          </a:prstGeom>
          <a:noFill/>
          <a:ln/>
        </p:spPr>
        <p:txBody>
          <a:bodyPr wrap="square" lIns="635" tIns="635" rIns="635" bIns="635" rtlCol="0" anchor="t"/>
          <a:lstStyle/>
          <a:p>
            <a:pPr marL="342900" indent="-342900">
              <a:spcAft>
                <a:spcPts val="200"/>
              </a:spcAft>
              <a:buSzPct val="100000"/>
              <a:buChar char="•"/>
            </a:pPr>
            <a:r>
              <a:rPr lang="en-US" sz="1700" dirty="0">
                <a:solidFill>
                  <a:srgbClr val="FFFFFF"/>
                </a:solidFill>
                <a:latin typeface="Nirmala UI" pitchFamily="34" charset="0"/>
                <a:ea typeface="Nirmala UI" pitchFamily="34" charset="-122"/>
                <a:cs typeface="Nirmala UI" pitchFamily="34" charset="-120"/>
              </a:rPr>
              <a:t>हृदय की विद्युत गतिविधि को प्रभावित कर सकता है।</a:t>
            </a:r>
            <a:endParaRPr lang="en-US" sz="1700" dirty="0"/>
          </a:p>
          <a:p>
            <a:pPr marL="342900" indent="-342900">
              <a:spcAft>
                <a:spcPts val="200"/>
              </a:spcAft>
              <a:buSzPct val="100000"/>
              <a:buChar char="•"/>
            </a:pPr>
            <a:r>
              <a:rPr lang="en-US" sz="1700" dirty="0">
                <a:solidFill>
                  <a:srgbClr val="FFFFFF"/>
                </a:solidFill>
                <a:latin typeface="Nirmala UI" pitchFamily="34" charset="0"/>
                <a:ea typeface="Nirmala UI" pitchFamily="34" charset="-122"/>
                <a:cs typeface="Nirmala UI" pitchFamily="34" charset="-120"/>
              </a:rPr>
              <a:t>हृदय की धड़कन अनियमित कर सकता है (Arrhythmia)।</a:t>
            </a:r>
            <a:endParaRPr lang="en-US" sz="1700" dirty="0"/>
          </a:p>
          <a:p>
            <a:pPr marL="342900" indent="-342900">
              <a:spcAft>
                <a:spcPts val="200"/>
              </a:spcAft>
              <a:buSzPct val="100000"/>
              <a:buChar char="•"/>
            </a:pPr>
            <a:r>
              <a:rPr lang="en-US" sz="1700" dirty="0">
                <a:solidFill>
                  <a:srgbClr val="FFFFFF"/>
                </a:solidFill>
                <a:latin typeface="Nirmala UI" pitchFamily="34" charset="0"/>
                <a:ea typeface="Nirmala UI" pitchFamily="34" charset="-122"/>
                <a:cs typeface="Nirmala UI" pitchFamily="34" charset="-120"/>
              </a:rPr>
              <a:t>रक्तचाप में गंभीर गिरावट उत्पन्न कर सकता है।</a:t>
            </a:r>
            <a:endParaRPr lang="en-US" sz="1700" dirty="0"/>
          </a:p>
        </p:txBody>
      </p:sp>
      <p:sp>
        <p:nvSpPr>
          <p:cNvPr id="7" name="Shape 4"/>
          <p:cNvSpPr/>
          <p:nvPr/>
        </p:nvSpPr>
        <p:spPr>
          <a:xfrm>
            <a:off x="548640" y="2971800"/>
            <a:ext cx="11091672" cy="1691640"/>
          </a:xfrm>
          <a:prstGeom prst="roundRect">
            <a:avLst>
              <a:gd name="adj" fmla="val 5405"/>
            </a:avLst>
          </a:prstGeom>
          <a:solidFill>
            <a:srgbClr val="4B5340"/>
          </a:solidFill>
          <a:ln w="9525">
            <a:solidFill>
              <a:srgbClr val="5E6850"/>
            </a:solidFill>
            <a:prstDash val="solid"/>
          </a:ln>
        </p:spPr>
      </p:sp>
      <p:pic>
        <p:nvPicPr>
          <p:cNvPr id="8" name="Image 1" descr="2. अहिफेन (Ahiphena)">    </p:cNvPr>
          <p:cNvPicPr>
            <a:picLocks noChangeAspect="1"/>
          </p:cNvPicPr>
          <p:nvPr/>
        </p:nvPicPr>
        <p:blipFill>
          <a:blip r:embed="rId2"/>
          <a:srcRect l="0" r="0" t="0" b="0"/>
          <a:stretch/>
        </p:blipFill>
        <p:spPr>
          <a:xfrm>
            <a:off x="713232" y="3127248"/>
            <a:ext cx="2103120" cy="1380744"/>
          </a:xfrm>
          <a:prstGeom prst="rect">
            <a:avLst/>
          </a:prstGeom>
        </p:spPr>
      </p:pic>
      <p:sp>
        <p:nvSpPr>
          <p:cNvPr id="9" name="Text 5"/>
          <p:cNvSpPr txBox="1"/>
          <p:nvPr/>
        </p:nvSpPr>
        <p:spPr>
          <a:xfrm>
            <a:off x="3063240" y="3081528"/>
            <a:ext cx="8321040" cy="438912"/>
          </a:xfrm>
          <a:prstGeom prst="rect">
            <a:avLst/>
          </a:prstGeom>
          <a:noFill/>
          <a:ln/>
        </p:spPr>
        <p:txBody>
          <a:bodyPr wrap="square" lIns="635" tIns="635" rIns="635" bIns="635" rtlCol="0" anchor="ctr"/>
          <a:lstStyle/>
          <a:p>
            <a:pPr indent="0" marL="0">
              <a:buNone/>
            </a:pPr>
            <a:r>
              <a:rPr lang="en-US" sz="2100" b="1" dirty="0">
                <a:solidFill>
                  <a:srgbClr val="FFDE59"/>
                </a:solidFill>
                <a:latin typeface="Nirmala UI" pitchFamily="34" charset="0"/>
                <a:ea typeface="Nirmala UI" pitchFamily="34" charset="-122"/>
                <a:cs typeface="Nirmala UI" pitchFamily="34" charset="-120"/>
              </a:rPr>
              <a:t>2. अहिफेन (Ahiphena)</a:t>
            </a:r>
            <a:endParaRPr lang="en-US" sz="2100" dirty="0"/>
          </a:p>
        </p:txBody>
      </p:sp>
      <p:sp>
        <p:nvSpPr>
          <p:cNvPr id="10" name="Text 6"/>
          <p:cNvSpPr txBox="1"/>
          <p:nvPr/>
        </p:nvSpPr>
        <p:spPr>
          <a:xfrm>
            <a:off x="3063240" y="3520440"/>
            <a:ext cx="8321040" cy="1051560"/>
          </a:xfrm>
          <a:prstGeom prst="rect">
            <a:avLst/>
          </a:prstGeom>
          <a:noFill/>
          <a:ln/>
        </p:spPr>
        <p:txBody>
          <a:bodyPr wrap="square" lIns="635" tIns="635" rIns="635" bIns="635" rtlCol="0" anchor="t"/>
          <a:lstStyle/>
          <a:p>
            <a:pPr marL="342900" indent="-342900">
              <a:spcAft>
                <a:spcPts val="200"/>
              </a:spcAft>
              <a:buSzPct val="100000"/>
              <a:buChar char="•"/>
            </a:pPr>
            <a:r>
              <a:rPr lang="en-US" sz="1700" dirty="0">
                <a:solidFill>
                  <a:srgbClr val="FFFFFF"/>
                </a:solidFill>
                <a:latin typeface="Nirmala UI" pitchFamily="34" charset="0"/>
                <a:ea typeface="Nirmala UI" pitchFamily="34" charset="-122"/>
                <a:cs typeface="Nirmala UI" pitchFamily="34" charset="-120"/>
              </a:rPr>
              <a:t>ऑक्सीजन की गंभीर कमी के कारण हृदय की कार्यक्षमता प्रभावित हो सकती है।</a:t>
            </a:r>
            <a:endParaRPr lang="en-US" sz="1700" dirty="0"/>
          </a:p>
        </p:txBody>
      </p:sp>
      <p:sp>
        <p:nvSpPr>
          <p:cNvPr id="11" name="Shape 7"/>
          <p:cNvSpPr/>
          <p:nvPr/>
        </p:nvSpPr>
        <p:spPr>
          <a:xfrm>
            <a:off x="548640" y="4846320"/>
            <a:ext cx="11091672" cy="1691640"/>
          </a:xfrm>
          <a:prstGeom prst="roundRect">
            <a:avLst>
              <a:gd name="adj" fmla="val 5405"/>
            </a:avLst>
          </a:prstGeom>
          <a:solidFill>
            <a:srgbClr val="4B5340"/>
          </a:solidFill>
          <a:ln w="9525">
            <a:solidFill>
              <a:srgbClr val="5E6850"/>
            </a:solidFill>
            <a:prstDash val="solid"/>
          </a:ln>
        </p:spPr>
      </p:sp>
      <p:pic>
        <p:nvPicPr>
          <p:cNvPr id="12" name="Image 2" descr="3. धत्तूर (Dhattura)">    </p:cNvPr>
          <p:cNvPicPr>
            <a:picLocks noChangeAspect="1"/>
          </p:cNvPicPr>
          <p:nvPr/>
        </p:nvPicPr>
        <p:blipFill>
          <a:blip r:embed="rId3"/>
          <a:srcRect l="0" r="0" t="0" b="0"/>
          <a:stretch/>
        </p:blipFill>
        <p:spPr>
          <a:xfrm>
            <a:off x="713232" y="5001768"/>
            <a:ext cx="2103120" cy="1380744"/>
          </a:xfrm>
          <a:prstGeom prst="rect">
            <a:avLst/>
          </a:prstGeom>
        </p:spPr>
      </p:pic>
      <p:sp>
        <p:nvSpPr>
          <p:cNvPr id="13" name="Text 8"/>
          <p:cNvSpPr txBox="1"/>
          <p:nvPr/>
        </p:nvSpPr>
        <p:spPr>
          <a:xfrm>
            <a:off x="3063240" y="4956048"/>
            <a:ext cx="8321040" cy="438912"/>
          </a:xfrm>
          <a:prstGeom prst="rect">
            <a:avLst/>
          </a:prstGeom>
          <a:noFill/>
          <a:ln/>
        </p:spPr>
        <p:txBody>
          <a:bodyPr wrap="square" lIns="635" tIns="635" rIns="635" bIns="635" rtlCol="0" anchor="ctr"/>
          <a:lstStyle/>
          <a:p>
            <a:pPr indent="0" marL="0">
              <a:buNone/>
            </a:pPr>
            <a:r>
              <a:rPr lang="en-US" sz="2100" b="1" dirty="0">
                <a:solidFill>
                  <a:srgbClr val="FFDE59"/>
                </a:solidFill>
                <a:latin typeface="Nirmala UI" pitchFamily="34" charset="0"/>
                <a:ea typeface="Nirmala UI" pitchFamily="34" charset="-122"/>
                <a:cs typeface="Nirmala UI" pitchFamily="34" charset="-120"/>
              </a:rPr>
              <a:t>3. धत्तूर (Dhattura)</a:t>
            </a:r>
            <a:endParaRPr lang="en-US" sz="2100" dirty="0"/>
          </a:p>
        </p:txBody>
      </p:sp>
      <p:sp>
        <p:nvSpPr>
          <p:cNvPr id="14" name="Text 9"/>
          <p:cNvSpPr txBox="1"/>
          <p:nvPr/>
        </p:nvSpPr>
        <p:spPr>
          <a:xfrm>
            <a:off x="3063240" y="5394960"/>
            <a:ext cx="8321040" cy="1051560"/>
          </a:xfrm>
          <a:prstGeom prst="rect">
            <a:avLst/>
          </a:prstGeom>
          <a:noFill/>
          <a:ln/>
        </p:spPr>
        <p:txBody>
          <a:bodyPr wrap="square" lIns="635" tIns="635" rIns="635" bIns="635" rtlCol="0" anchor="t"/>
          <a:lstStyle/>
          <a:p>
            <a:pPr marL="342900" indent="-342900">
              <a:spcAft>
                <a:spcPts val="200"/>
              </a:spcAft>
              <a:buSzPct val="100000"/>
              <a:buChar char="•"/>
            </a:pPr>
            <a:r>
              <a:rPr lang="en-US" sz="1700" dirty="0">
                <a:solidFill>
                  <a:srgbClr val="FFFFFF"/>
                </a:solidFill>
                <a:latin typeface="Nirmala UI" pitchFamily="34" charset="0"/>
                <a:ea typeface="Nirmala UI" pitchFamily="34" charset="-122"/>
                <a:cs typeface="Nirmala UI" pitchFamily="34" charset="-120"/>
              </a:rPr>
              <a:t>हृदय की धड़कन तेज कर सकता है (Tachycardia)।</a:t>
            </a:r>
            <a:endParaRPr lang="en-US" sz="1700" dirty="0"/>
          </a:p>
          <a:p>
            <a:pPr marL="342900" indent="-342900">
              <a:spcAft>
                <a:spcPts val="200"/>
              </a:spcAft>
              <a:buSzPct val="100000"/>
              <a:buChar char="•"/>
            </a:pPr>
            <a:r>
              <a:rPr lang="en-US" sz="1700" dirty="0">
                <a:solidFill>
                  <a:srgbClr val="FFFFFF"/>
                </a:solidFill>
                <a:latin typeface="Nirmala UI" pitchFamily="34" charset="0"/>
                <a:ea typeface="Nirmala UI" pitchFamily="34" charset="-122"/>
                <a:cs typeface="Nirmala UI" pitchFamily="34" charset="-120"/>
              </a:rPr>
              <a:t>हृदय की लय में अनियमितता उत्पन्न कर सकता है।</a:t>
            </a:r>
            <a:endParaRPr lang="en-US" sz="1700" dirty="0"/>
          </a:p>
          <a:p>
            <a:pPr marL="342900" indent="-342900">
              <a:spcAft>
                <a:spcPts val="200"/>
              </a:spcAft>
              <a:buSzPct val="100000"/>
              <a:buChar char="•"/>
            </a:pPr>
            <a:r>
              <a:rPr lang="en-US" sz="1700" dirty="0">
                <a:solidFill>
                  <a:srgbClr val="FFFFFF"/>
                </a:solidFill>
                <a:latin typeface="Nirmala UI" pitchFamily="34" charset="0"/>
                <a:ea typeface="Nirmala UI" pitchFamily="34" charset="-122"/>
                <a:cs typeface="Nirmala UI" pitchFamily="34" charset="-120"/>
              </a:rPr>
              <a:t>गंभीर विषाक्तता में रक्तचाप तथा हृदय संबंधी कार्य प्रभावित हो सकते हैं।</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D4331"/>
        </a:solidFill>
      </p:bgPr>
    </p:bg>
    <p:spTree>
      <p:nvGrpSpPr>
        <p:cNvPr id="1" name=""/>
        <p:cNvGrpSpPr/>
        <p:nvPr/>
      </p:nvGrpSpPr>
      <p:grpSpPr>
        <a:xfrm>
          <a:off x="0" y="0"/>
          <a:ext cx="0" cy="0"/>
          <a:chOff x="0" y="0"/>
          <a:chExt cx="0" cy="0"/>
        </a:xfrm>
      </p:grpSpPr>
      <p:pic>
        <p:nvPicPr>
          <p:cNvPr id="2" name="Image 0" descr="/tmp/claude-0/-home-user-temp/7f25fba1-67f1-50aa-a5ca-20648b7772ad/scratchpad/build/img/image11.png">    </p:cNvPr>
          <p:cNvPicPr>
            <a:picLocks noChangeAspect="1"/>
          </p:cNvPicPr>
          <p:nvPr/>
        </p:nvPicPr>
        <p:blipFill>
          <a:blip r:embed="rId1"/>
          <a:stretch>
            <a:fillRect/>
          </a:stretch>
        </p:blipFill>
        <p:spPr>
          <a:xfrm>
            <a:off x="1554480" y="365760"/>
            <a:ext cx="9052560" cy="6126480"/>
          </a:xfrm>
          <a:prstGeom prst="rect">
            <a:avLst/>
          </a:prstGeom>
        </p:spPr>
      </p:pic>
      <p:pic>
        <p:nvPicPr>
          <p:cNvPr id="3" name="Image 1" descr="Flower">    </p:cNvPr>
          <p:cNvPicPr>
            <a:picLocks noChangeAspect="1"/>
          </p:cNvPicPr>
          <p:nvPr/>
        </p:nvPicPr>
        <p:blipFill>
          <a:blip r:embed="rId2"/>
          <a:stretch>
            <a:fillRect/>
          </a:stretch>
        </p:blipFill>
        <p:spPr>
          <a:xfrm>
            <a:off x="0" y="1670492"/>
            <a:ext cx="2194560" cy="4157096"/>
          </a:xfrm>
          <a:prstGeom prst="rect">
            <a:avLst/>
          </a:prstGeom>
        </p:spPr>
      </p:pic>
      <p:sp>
        <p:nvSpPr>
          <p:cNvPr id="4" name="Text 0"/>
          <p:cNvSpPr txBox="1"/>
          <p:nvPr/>
        </p:nvSpPr>
        <p:spPr>
          <a:xfrm>
            <a:off x="2377440" y="1097280"/>
            <a:ext cx="7406640" cy="1737360"/>
          </a:xfrm>
          <a:prstGeom prst="rect">
            <a:avLst/>
          </a:prstGeom>
          <a:noFill/>
          <a:ln/>
        </p:spPr>
        <p:txBody>
          <a:bodyPr wrap="square" lIns="635" tIns="635" rIns="635" bIns="635" rtlCol="0" anchor="ctr"/>
          <a:lstStyle/>
          <a:p>
            <a:pPr algn="ctr" indent="0" marL="0">
              <a:buNone/>
            </a:pPr>
            <a:r>
              <a:rPr lang="en-US" sz="7200" b="1" dirty="0">
                <a:solidFill>
                  <a:srgbClr val="2D1F13"/>
                </a:solidFill>
                <a:latin typeface="Cambria" pitchFamily="34" charset="0"/>
                <a:ea typeface="Cambria" pitchFamily="34" charset="-122"/>
                <a:cs typeface="Cambria" pitchFamily="34" charset="-120"/>
              </a:rPr>
              <a:t>Q&amp;A Session</a:t>
            </a:r>
            <a:endParaRPr lang="en-US" sz="7200" dirty="0"/>
          </a:p>
        </p:txBody>
      </p:sp>
      <p:pic>
        <p:nvPicPr>
          <p:cNvPr id="5" name="Image 2" descr="Question mark">    </p:cNvPr>
          <p:cNvPicPr>
            <a:picLocks noChangeAspect="1"/>
          </p:cNvPicPr>
          <p:nvPr/>
        </p:nvPicPr>
        <p:blipFill>
          <a:blip r:embed="rId3"/>
          <a:stretch>
            <a:fillRect/>
          </a:stretch>
        </p:blipFill>
        <p:spPr>
          <a:xfrm>
            <a:off x="8793431" y="685800"/>
            <a:ext cx="1158338" cy="1920240"/>
          </a:xfrm>
          <a:prstGeom prst="rect">
            <a:avLst/>
          </a:prstGeom>
        </p:spPr>
      </p:pic>
      <p:pic>
        <p:nvPicPr>
          <p:cNvPr id="6" name="Image 3" descr="KBC moment">    </p:cNvPr>
          <p:cNvPicPr>
            <a:picLocks noChangeAspect="1"/>
          </p:cNvPicPr>
          <p:nvPr/>
        </p:nvPicPr>
        <p:blipFill>
          <a:blip r:embed="rId4"/>
          <a:stretch>
            <a:fillRect/>
          </a:stretch>
        </p:blipFill>
        <p:spPr>
          <a:xfrm>
            <a:off x="3383280" y="3420303"/>
            <a:ext cx="5394960" cy="2257673"/>
          </a:xfrm>
          <a:prstGeom prst="rect">
            <a:avLst/>
          </a:prstGeom>
        </p:spPr>
      </p:pic>
      <p:pic>
        <p:nvPicPr>
          <p:cNvPr id="7" name="Image 4" descr="Thinking brain">    </p:cNvPr>
          <p:cNvPicPr>
            <a:picLocks noChangeAspect="1"/>
          </p:cNvPicPr>
          <p:nvPr/>
        </p:nvPicPr>
        <p:blipFill>
          <a:blip r:embed="rId5"/>
          <a:stretch>
            <a:fillRect/>
          </a:stretch>
        </p:blipFill>
        <p:spPr>
          <a:xfrm>
            <a:off x="9697464" y="4023360"/>
            <a:ext cx="2367792" cy="26517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D4331"/>
        </a:solidFill>
      </p:bgPr>
    </p:bg>
    <p:spTree>
      <p:nvGrpSpPr>
        <p:cNvPr id="1" name=""/>
        <p:cNvGrpSpPr/>
        <p:nvPr/>
      </p:nvGrpSpPr>
      <p:grpSpPr>
        <a:xfrm>
          <a:off x="0" y="0"/>
          <a:ext cx="0" cy="0"/>
          <a:chOff x="0" y="0"/>
          <a:chExt cx="0" cy="0"/>
        </a:xfrm>
      </p:grpSpPr>
      <p:pic>
        <p:nvPicPr>
          <p:cNvPr id="2" name="Image 0" descr="/tmp/claude-0/-home-user-temp/7f25fba1-67f1-50aa-a5ca-20648b7772ad/scratchpad/build/img/image11.png">    </p:cNvPr>
          <p:cNvPicPr>
            <a:picLocks noChangeAspect="1"/>
          </p:cNvPicPr>
          <p:nvPr/>
        </p:nvPicPr>
        <p:blipFill>
          <a:blip r:embed="rId1"/>
          <a:stretch>
            <a:fillRect/>
          </a:stretch>
        </p:blipFill>
        <p:spPr>
          <a:xfrm>
            <a:off x="1554480" y="365760"/>
            <a:ext cx="9052560" cy="6126480"/>
          </a:xfrm>
          <a:prstGeom prst="rect">
            <a:avLst/>
          </a:prstGeom>
        </p:spPr>
      </p:pic>
      <p:pic>
        <p:nvPicPr>
          <p:cNvPr id="3" name="Image 1" descr="Panda holding heart">    </p:cNvPr>
          <p:cNvPicPr>
            <a:picLocks noChangeAspect="1"/>
          </p:cNvPicPr>
          <p:nvPr/>
        </p:nvPicPr>
        <p:blipFill>
          <a:blip r:embed="rId2"/>
          <a:stretch>
            <a:fillRect/>
          </a:stretch>
        </p:blipFill>
        <p:spPr>
          <a:xfrm>
            <a:off x="636168" y="2194560"/>
            <a:ext cx="3848303" cy="4480560"/>
          </a:xfrm>
          <a:prstGeom prst="rect">
            <a:avLst/>
          </a:prstGeom>
        </p:spPr>
      </p:pic>
      <p:sp>
        <p:nvSpPr>
          <p:cNvPr id="4" name="Text 0"/>
          <p:cNvSpPr txBox="1"/>
          <p:nvPr/>
        </p:nvSpPr>
        <p:spPr>
          <a:xfrm>
            <a:off x="4389120" y="2377440"/>
            <a:ext cx="5852160" cy="2103120"/>
          </a:xfrm>
          <a:prstGeom prst="rect">
            <a:avLst/>
          </a:prstGeom>
          <a:noFill/>
          <a:ln/>
        </p:spPr>
        <p:txBody>
          <a:bodyPr wrap="square" lIns="635" tIns="635" rIns="635" bIns="635" rtlCol="0" anchor="ctr"/>
          <a:lstStyle/>
          <a:p>
            <a:pPr algn="ctr" indent="0" marL="0">
              <a:buNone/>
            </a:pPr>
            <a:r>
              <a:rPr lang="en-US" sz="8000" b="1" dirty="0">
                <a:solidFill>
                  <a:srgbClr val="2D1F13"/>
                </a:solidFill>
                <a:latin typeface="Cambria" pitchFamily="34" charset="0"/>
                <a:ea typeface="Cambria" pitchFamily="34" charset="-122"/>
                <a:cs typeface="Cambria" pitchFamily="34" charset="-120"/>
              </a:rPr>
              <a:t>Thank You</a:t>
            </a:r>
            <a:endParaRPr lang="en-US" sz="8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Hridaya Avarana</dc:title>
  <dc:subject>PptxGenJS Presentation</dc:subject>
  <dc:creator>Harsha Choudhary, Heena Chandrakar</dc:creator>
  <cp:lastModifiedBy>Harsha Choudhary, Heena Chandrakar</cp:lastModifiedBy>
  <cp:revision>1</cp:revision>
  <dcterms:created xsi:type="dcterms:W3CDTF">2026-10-14T12:36:39Z</dcterms:created>
  <dcterms:modified xsi:type="dcterms:W3CDTF">2026-10-14T12:36:39Z</dcterms:modified>
</cp:coreProperties>
</file>